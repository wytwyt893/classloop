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553af42d524034" /><Relationship Type="http://schemas.openxmlformats.org/officeDocument/2006/relationships/extended-properties" Target="/docProps/app.xml" Id="R5aa78c0007944ecb" /><Relationship Type="http://schemas.openxmlformats.org/officeDocument/2006/relationships/officeDocument" Target="/ppt/presentation.xml" Id="R85f4725c4ad045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6b611e9b304b81"/>
  </p:sldMasterIdLst>
  <p:notesMasterIdLst>
    <p:notesMasterId xmlns:r="http://schemas.openxmlformats.org/officeDocument/2006/relationships" r:id="R34cebba08e9347d2"/>
  </p:notesMasterIdLst>
  <p:sldIdLst>
    <p:sldId xmlns:r="http://schemas.openxmlformats.org/officeDocument/2006/relationships" id="256" r:id="Ra406cfcf10484a27"/>
    <p:sldId xmlns:r="http://schemas.openxmlformats.org/officeDocument/2006/relationships" id="257" r:id="R230aee5da0bb4f40"/>
    <p:sldId xmlns:r="http://schemas.openxmlformats.org/officeDocument/2006/relationships" id="258" r:id="Rac690371c23e43c3"/>
    <p:sldId xmlns:r="http://schemas.openxmlformats.org/officeDocument/2006/relationships" id="259" r:id="R43974145146e476d"/>
    <p:sldId xmlns:r="http://schemas.openxmlformats.org/officeDocument/2006/relationships" id="260" r:id="R8090e69ba8fd49b3"/>
    <p:sldId xmlns:r="http://schemas.openxmlformats.org/officeDocument/2006/relationships" id="261" r:id="Ra7f3df9bd21b4de0"/>
    <p:sldId xmlns:r="http://schemas.openxmlformats.org/officeDocument/2006/relationships" id="262" r:id="R402dc6374eb84569"/>
    <p:sldId xmlns:r="http://schemas.openxmlformats.org/officeDocument/2006/relationships" id="263" r:id="R4d4c9e66a1904d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97fa592fd64077" /><Relationship Type="http://schemas.openxmlformats.org/officeDocument/2006/relationships/slideMaster" Target="/ppt/slideMasters/slideMaster1.xml" Id="R136b611e9b304b81" /><Relationship Type="http://schemas.openxmlformats.org/officeDocument/2006/relationships/notesMaster" Target="/ppt/notesMasters/notesMaster1.xml" Id="R34cebba08e9347d2" /><Relationship Type="http://schemas.openxmlformats.org/officeDocument/2006/relationships/presProps" Target="/ppt/presProps.xml" Id="R607099dbfc0144b7" /><Relationship Type="http://schemas.openxmlformats.org/officeDocument/2006/relationships/viewProps" Target="/ppt/viewProps.xml" Id="R1ceefcd1ede74141" /><Relationship Type="http://schemas.openxmlformats.org/officeDocument/2006/relationships/tableStyles" Target="/ppt/tableStyles.xml" Id="R0ef8e69257b34aac" /><Relationship Type="http://schemas.openxmlformats.org/officeDocument/2006/relationships/slide" Target="/ppt/slides/slide1.xml" Id="Ra406cfcf10484a27" /><Relationship Type="http://schemas.openxmlformats.org/officeDocument/2006/relationships/slide" Target="/ppt/slides/slide2.xml" Id="R230aee5da0bb4f40" /><Relationship Type="http://schemas.openxmlformats.org/officeDocument/2006/relationships/slide" Target="/ppt/slides/slide3.xml" Id="Rac690371c23e43c3" /><Relationship Type="http://schemas.openxmlformats.org/officeDocument/2006/relationships/slide" Target="/ppt/slides/slide4.xml" Id="R43974145146e476d" /><Relationship Type="http://schemas.openxmlformats.org/officeDocument/2006/relationships/slide" Target="/ppt/slides/slide5.xml" Id="R8090e69ba8fd49b3" /><Relationship Type="http://schemas.openxmlformats.org/officeDocument/2006/relationships/slide" Target="/ppt/slides/slide6.xml" Id="Ra7f3df9bd21b4de0" /><Relationship Type="http://schemas.openxmlformats.org/officeDocument/2006/relationships/slide" Target="/ppt/slides/slide7.xml" Id="R402dc6374eb84569" /><Relationship Type="http://schemas.openxmlformats.org/officeDocument/2006/relationships/slide" Target="/ppt/slides/slide8.xml" Id="R4d4c9e66a1904d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8692b408cb43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华文中宋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华文中宋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f086b68c7b4944" /><Relationship Type="http://schemas.openxmlformats.org/officeDocument/2006/relationships/notesMaster" Target="/ppt/notesMasters/notesMaster1.xml" Id="R72633997be284e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e2a8a60622482a" /><Relationship Type="http://schemas.openxmlformats.org/officeDocument/2006/relationships/notesMaster" Target="/ppt/notesMasters/notesMaster1.xml" Id="Rf2ebcbddb1f94f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cc7915bb824509" /><Relationship Type="http://schemas.openxmlformats.org/officeDocument/2006/relationships/notesMaster" Target="/ppt/notesMasters/notesMaster1.xml" Id="R90f75246d97d44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a654d7877d4584" /><Relationship Type="http://schemas.openxmlformats.org/officeDocument/2006/relationships/notesMaster" Target="/ppt/notesMasters/notesMaster1.xml" Id="R3119aa27981849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9115f6eacb4aae" /><Relationship Type="http://schemas.openxmlformats.org/officeDocument/2006/relationships/notesMaster" Target="/ppt/notesMasters/notesMaster1.xml" Id="Rd369d815ccce48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d85c66d1ea41c2" /><Relationship Type="http://schemas.openxmlformats.org/officeDocument/2006/relationships/notesMaster" Target="/ppt/notesMasters/notesMaster1.xml" Id="R9684fef5e9f14d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705a99a30f4bc5" /><Relationship Type="http://schemas.openxmlformats.org/officeDocument/2006/relationships/notesMaster" Target="/ppt/notesMasters/notesMaster1.xml" Id="R4bc641afe27742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5b5ff9cffd49f5" /><Relationship Type="http://schemas.openxmlformats.org/officeDocument/2006/relationships/notesMaster" Target="/ppt/notesMasters/notesMaster1.xml" Id="R33b909e40f084e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开场先明确：本项目不是把旧应用换皮，也不是与通用模型比知识量。核心是把课堂中的理解状态变成教师可用、可干预、可复测的证据。来源素材均继承自用户提供的原始 PPT。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问题重构：不以市场人数或政策口号作为主论据，而从课堂信息缺口出发。这里的三类问题分别对应后续的误区检测、班级聚合和干预复测。来源图片继承自用户提供的原始 PPT。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这一页要诚实承认市场成熟度。现有产品能力来自其官方页面；最后一列是基于这些公开功能做出的产品边界判断，不代表对所有部署场景的绝对结论。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https://openai.com/index/chatgpt-study-mode/</a:t>
            </a:r>
          </a:p>
          <a:p xmlns:a="http://schemas.openxmlformats.org/drawingml/2006/main">
            <a:r>
              <a:t>- https://www.khanacademy.org/khanmigo</a:t>
            </a:r>
          </a:p>
          <a:p xmlns:a="http://schemas.openxmlformats.org/drawingml/2006/main">
            <a:r>
              <a:t>- https://classcompanion.com/</a:t>
            </a:r>
          </a:p>
          <a:p xmlns:a="http://schemas.openxmlformats.org/drawingml/2006/main">
            <a:r>
              <a:t>- https://knowledge.century.tech/teacher-introduction-to-century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本页回答老师最常追问的三个问题：课堂里怎么用、学生要做什么、数据从哪里来。强调低频互动与明确隐私边界，避免让产品看起来依赖摄像头或持续监控。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本页从两端的真实操作说明产品。讲解顺序建议先讲学生四步，再讲教师四步，最后指出两条泳道通过同一个 Session 和同一组证据连接。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页面中的 38%、62% 和 88% 均为演示流程的示例数据，不是实验结果。实际结题时应替换为真实课堂或受控测试数据，并保留原始作答证据。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这一页用于回答数据从哪里来、AI 做了什么以及旧工具复用到什么程度。边界要讲清：复用的是成熟能力，新开发的是课堂 Session、聚合状态和验证闭环。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MVP 不追求覆盖多个课程或复杂多模态感知，而是先证明一条完整闭环可用、可追溯、可复测。验收时只展示真实完成的功能与数据。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c763e70d52419c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b15f1e1b064e91" /><Relationship Type="http://schemas.openxmlformats.org/officeDocument/2006/relationships/slideLayout" Target="/ppt/slideLayouts/slideLayout1.xml" Id="Rb31774ec6ff844e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1774ec6ff844e0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华文中宋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华文中宋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c30ed8c70e4847" /><Relationship Type="http://schemas.openxmlformats.org/officeDocument/2006/relationships/image" Target="/ppt/media/image.png" Id="Rb3645e2aaff44884" /><Relationship Type="http://schemas.openxmlformats.org/officeDocument/2006/relationships/notesSlide" Target="/ppt/notesSlides/notesSlide1.xml" Id="R2103f4e5bef04a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fa58b00a2b4969" /><Relationship Type="http://schemas.openxmlformats.org/officeDocument/2006/relationships/image" Target="/ppt/media/image.png" Id="Re6860809b59e4fb7" /><Relationship Type="http://schemas.openxmlformats.org/officeDocument/2006/relationships/notesSlide" Target="/ppt/notesSlides/notesSlide2.xml" Id="R66ca1cf1a4ad45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71cf24b1634558" /><Relationship Type="http://schemas.openxmlformats.org/officeDocument/2006/relationships/image" Target="/ppt/media/image.png" Id="R4a457240c91e4867" /><Relationship Type="http://schemas.openxmlformats.org/officeDocument/2006/relationships/notesSlide" Target="/ppt/notesSlides/notesSlide3.xml" Id="R5ca75d67a10a4b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65c1857f884251" /><Relationship Type="http://schemas.openxmlformats.org/officeDocument/2006/relationships/image" Target="/ppt/media/image.png" Id="Rabe73bbafe46410d" /><Relationship Type="http://schemas.openxmlformats.org/officeDocument/2006/relationships/notesSlide" Target="/ppt/notesSlides/notesSlide4.xml" Id="R8520039f955c4d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4aefb0bc0a43a6" /><Relationship Type="http://schemas.openxmlformats.org/officeDocument/2006/relationships/image" Target="/ppt/media/image.png" Id="R7828d36f5ee54282" /><Relationship Type="http://schemas.openxmlformats.org/officeDocument/2006/relationships/notesSlide" Target="/ppt/notesSlides/notesSlide5.xml" Id="R8556337d8efd47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960d013b134b2e" /><Relationship Type="http://schemas.openxmlformats.org/officeDocument/2006/relationships/image" Target="/ppt/media/image.png" Id="Rdab425feec66400c" /><Relationship Type="http://schemas.openxmlformats.org/officeDocument/2006/relationships/notesSlide" Target="/ppt/notesSlides/notesSlide6.xml" Id="R7a98510d52a346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d3e329d5824515" /><Relationship Type="http://schemas.openxmlformats.org/officeDocument/2006/relationships/image" Target="/ppt/media/image.png" Id="R5bdd44460ac94682" /><Relationship Type="http://schemas.openxmlformats.org/officeDocument/2006/relationships/notesSlide" Target="/ppt/notesSlides/notesSlide7.xml" Id="R0253af50fa5b42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875af89a72480c" /><Relationship Type="http://schemas.openxmlformats.org/officeDocument/2006/relationships/image" Target="/ppt/media/image.png" Id="Re423c09fa08042ab" /><Relationship Type="http://schemas.openxmlformats.org/officeDocument/2006/relationships/notesSlide" Target="/ppt/notesSlides/notesSlide8.xml" Id="R84c7d52ff76f45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7E1E8D4-E7C6-4DF4-AB44-283A8FA1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2" y="7989"/>
            <a:ext cx="781812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92CEB065-C915-4080-8255-EF904215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976" y="0"/>
            <a:ext cx="2651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513"/>
          </a:solidFill>
          <a:ln xmlns:a="http://schemas.openxmlformats.org/drawingml/2006/main" w="12700">
            <a:solidFill>
              <a:srgbClr val="D5651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95D35BD-DA96-45B2-A1B2-4E256CB7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0" y="-7989"/>
            <a:ext cx="4117850" cy="68739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5B"/>
          </a:solidFill>
          <a:ln xmlns:a="http://schemas.openxmlformats.org/drawingml/2006/main" w="12700">
            <a:solidFill>
              <a:srgbClr val="00775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00775B"/>
              </a:solidFill>
            </a:endParaRP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76E0B27-6BAA-4B5B-A67D-E5DC4941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02920"/>
            <a:ext cx="1371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657083"/>
                </a:solidFill>
                <a:latin typeface="Times New Roman"/>
                <a:ea typeface="Times New Roman"/>
                <a:cs typeface="Times New Roman"/>
              </a:rPr>
              <a:t>BIT</a:t>
            </a:r>
            <a:endParaRPr sz="11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97ABF184-C048-4936-85CA-E723F71F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353312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550" b="1">
                <a:solidFill>
                  <a:srgbClr val="07564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75642"/>
                </a:solidFill>
                <a:latin typeface="Arial"/>
                <a:ea typeface="Arial"/>
                <a:cs typeface="Arial"/>
              </a:rPr>
              <a:t>ClassLoop AI</a:t>
            </a:r>
            <a:endParaRPr sz="32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0E83B02-894C-4A65-9994-48FAC2B6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93392"/>
            <a:ext cx="57607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950" b="1">
                <a:solidFill>
                  <a:srgbClr val="08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A5B"/>
                </a:solidFill>
                <a:latin typeface="Microsoft YaHei"/>
                <a:ea typeface="Microsoft YaHei"/>
                <a:cs typeface="Microsoft YaHei"/>
              </a:rPr>
              <a:t>面向理论课堂的认知反馈闭环</a:t>
            </a:r>
            <a:endParaRPr sz="27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6BBE0DC2-4429-4518-ACB6-4A9E4A12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926080"/>
            <a:ext cx="4160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0077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332B181F-6628-488C-AF3E-231C3E29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23" y="2895474"/>
            <a:ext cx="7095744" cy="97196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230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/>
              <a:t>面向大学大班、在线与混合式理论课堂的 AI 认知反馈系统</a:t>
            </a:r>
            <a:endParaRPr sz="2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F77A752-752B-4ECA-95F6-3CCA24B0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0173" y="717804"/>
            <a:ext cx="3854198" cy="5394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285750" indent="-285750" algn="l">
              <a:lnSpc>
                <a:spcPct val="250000"/>
              </a:lnSpc>
              <a:buFont typeface="Wingdings"/>
              <a:buChar char="Ø"/>
              <a:defRPr sz="1350" b="1">
                <a:solidFill>
                  <a:srgbClr val="5B6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实时绑定本节课位置</a:t>
            </a:r>
            <a:endParaRPr sz="1600" b="1">
              <a:solidFill>
                <a:schemeClr val="bg1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285750" indent="-285750" algn="l">
              <a:lnSpc>
                <a:spcPct val="250000"/>
              </a:lnSpc>
              <a:buFont typeface="Wingdings"/>
              <a:buChar char="Ø"/>
              <a:defRPr sz="1350" b="1">
                <a:solidFill>
                  <a:srgbClr val="5B6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识别班级共性误区</a:t>
            </a:r>
            <a:endParaRPr sz="1600" b="1">
              <a:solidFill>
                <a:schemeClr val="bg1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285750" indent="-285750" algn="l">
              <a:lnSpc>
                <a:spcPct val="250000"/>
              </a:lnSpc>
              <a:buFont typeface="Wingdings"/>
              <a:buChar char="Ø"/>
              <a:defRPr sz="1350" b="1">
                <a:solidFill>
                  <a:srgbClr val="5B6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教师可控讲解策略</a:t>
            </a:r>
            <a:endParaRPr sz="1600" b="1">
              <a:solidFill>
                <a:schemeClr val="bg1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marL="285750" indent="-285750" algn="l">
              <a:lnSpc>
                <a:spcPct val="250000"/>
              </a:lnSpc>
              <a:buFont typeface="Wingdings"/>
              <a:buChar char="Ø"/>
              <a:defRPr sz="1350" b="1">
                <a:solidFill>
                  <a:srgbClr val="5B6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干预效果可验证</a:t>
            </a:r>
            <a:endParaRPr sz="1600" b="1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285750" indent="-285750" algn="l">
              <a:lnSpc>
                <a:spcPct val="250000"/>
              </a:lnSpc>
              <a:buFont typeface="Wingdings"/>
              <a:buChar char="Ø"/>
              <a:defRPr sz="1350" b="1">
                <a:solidFill>
                  <a:srgbClr val="5B6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VentureAgent</a:t>
            </a:r>
            <a:r>
              <a:rPr sz="1600" b="1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600" b="1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提供文档解析、Tutor、图谱与日志；新应用独立完成课堂状态与反馈闭环</a:t>
            </a:r>
            <a:endParaRPr sz="1600" b="1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B63F070-4CE9-4C6C-B930-736FEA10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23" y="4893880"/>
            <a:ext cx="2743199" cy="3173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成员：梁淏、吴雨桐</a:t>
            </a:r>
            <a:endParaRPr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4908F039-F9EA-4EA2-800D-FAB4ADE0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23" y="5340386"/>
            <a:ext cx="2842478" cy="3173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75" b="1">
                <a:solidFill>
                  <a:srgbClr val="5B6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5B6B67"/>
                </a:solidFill>
                <a:latin typeface="Microsoft YaHei"/>
                <a:ea typeface="Microsoft YaHei"/>
                <a:cs typeface="Microsoft YaHei"/>
              </a:rPr>
              <a:t>时间：2026 / 08 / 31</a:t>
            </a:r>
            <a:endParaRPr sz="1000" b="1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3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645e2aaff448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94292" y="288036"/>
            <a:ext cx="1965960" cy="429768"/>
          </a:xfrm>
          <a:prstGeom xmlns:a="http://schemas.openxmlformats.org/drawingml/2006/main" prst="rect">
            <a:avLst/>
          </a:prstGeom>
        </p:spPr>
      </p:pic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FE356114-FB06-53B6-3771-98BC7E89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31" y="7989"/>
            <a:ext cx="78105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79A11E38-FB8E-16C9-D9F1-5C7D6460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12" y="3632150"/>
            <a:ext cx="7002694" cy="7873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600">
                <a:latin typeface="华文中宋"/>
                <a:ea typeface="华文中宋"/>
                <a:cs typeface="华文中宋"/>
              </a:rPr>
              <a:t>通过低频微交互采集学生理解证据，将个体作答与提问聚合为班级共性误区，帮助教师完成“发现—干预—复测”的课堂闭环</a:t>
            </a:r>
            <a:endParaRPr sz="1600">
              <a:latin typeface="华文中宋"/>
              <a:ea typeface="华文中宋"/>
              <a:cs typeface="华文中宋"/>
            </a:endParaRPr>
          </a:p>
        </p:txBody>
      </p:sp>
    </p:spTree>
    <p:extLst>
      <p:ext uri="{BB962C8B-B14F-4D97-AF65-F5344CB8AC3E}">
        <p14:creationId xmlns:p14="http://schemas.microsoft.com/office/powerpoint/2010/main" val="13383980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8973687-7678-48F5-9DBD-89BBBE30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" cy="589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5B"/>
          </a:solidFill>
          <a:ln xmlns:a="http://schemas.openxmlformats.org/drawingml/2006/main" w="12700">
            <a:solidFill>
              <a:srgbClr val="0077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315DC15-CD1F-42D7-89D1-AFAF3E88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" y="0"/>
            <a:ext cx="66751" cy="589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513"/>
          </a:solidFill>
          <a:ln xmlns:a="http://schemas.openxmlformats.org/drawingml/2006/main" w="12700">
            <a:solidFill>
              <a:srgbClr val="D5651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A5C937A-785E-45D3-B18B-221C4A50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2230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/>
              <a:t>教学需求</a:t>
            </a:r>
            <a:r>
              <a:rPr sz="2200"/>
              <a:t>——</a:t>
            </a:r>
            <a:r>
              <a:rPr sz="2175" b="1"/>
              <a:t>全体学生理解状态的低成本感知</a:t>
            </a:r>
            <a:endParaRPr sz="22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72D8BC4-8AFB-4F47-A35D-92B0185E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589788"/>
            <a:ext cx="1111910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9D3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860809b59e4f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48672" y="137160"/>
            <a:ext cx="1563624" cy="342900"/>
          </a:xfrm>
          <a:prstGeom xmlns:a="http://schemas.openxmlformats.org/drawingml/2006/main" prst="rect">
            <a:avLst/>
          </a:prstGeom>
        </p:spPr>
      </p:pic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9867B23E-819B-4174-9624-57EB0395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2590"/>
            <a:ext cx="11810390" cy="305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5B"/>
          </a:solidFill>
          <a:ln xmlns:a="http://schemas.openxmlformats.org/drawingml/2006/main" w="12700">
            <a:solidFill>
              <a:srgbClr val="0077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F751426C-D445-440D-802E-E06B66CA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0390" y="6552590"/>
            <a:ext cx="381305" cy="305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513"/>
          </a:solidFill>
          <a:ln xmlns:a="http://schemas.openxmlformats.org/drawingml/2006/main" w="12700">
            <a:solidFill>
              <a:srgbClr val="D5651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09DC89D-6327-4FFD-8858-CEC5FD84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583680"/>
            <a:ext cx="24688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格物致知 · 守正创新</a:t>
            </a:r>
            <a:endParaRPr sz="92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B88C41D-0248-460A-9661-C10FC563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6583680"/>
            <a:ext cx="3703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CLASSLOOP · SUMMER TERM PROPOSAL</a:t>
            </a:r>
            <a:endParaRPr sz="87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E0CD23B-6312-46DA-B9BF-92968201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2336" y="6565392"/>
            <a:ext cx="329184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  <a:endParaRPr sz="950"/>
          </a:p>
        </p:txBody>
      </p:sp>
      <p:sp>
        <p:nvSpPr>
          <p:cNvPr id="45" name="s2-thesis">
            <a:extLst xmlns:a="http://schemas.openxmlformats.org/drawingml/2006/main">
              <a:ext uri="{FF2B5EF4-FFF2-40B4-BE49-F238E27FC236}">
                <a16:creationId xmlns:a16="http://schemas.microsoft.com/office/drawing/2014/main" id="{DE14145D-B05A-472A-863E-7C1EC333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296" y="737615"/>
            <a:ext cx="533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75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75642"/>
                </a:solidFill>
                <a:latin typeface="Microsoft YaHei"/>
                <a:ea typeface="Microsoft YaHei"/>
                <a:cs typeface="Microsoft YaHei"/>
              </a:rPr>
              <a:t>教师看见“</a:t>
            </a:r>
            <a:r>
              <a:rPr sz="2325" b="1">
                <a:solidFill>
                  <a:srgbClr val="075642"/>
                </a:solidFill>
                <a:latin typeface="Microsoft YaHei"/>
                <a:ea typeface="Microsoft YaHei"/>
                <a:cs typeface="Microsoft YaHei"/>
              </a:rPr>
              <a:t>讲了什么</a:t>
            </a:r>
            <a:r>
              <a:rPr sz="2325" b="1">
                <a:solidFill>
                  <a:srgbClr val="075642"/>
                </a:solidFill>
                <a:latin typeface="Microsoft YaHei"/>
                <a:ea typeface="Microsoft YaHei"/>
                <a:cs typeface="Microsoft YaHei"/>
              </a:rPr>
              <a:t>”，</a:t>
            </a:r>
            <a:r>
              <a:rPr sz="2325" b="1">
                <a:solidFill>
                  <a:srgbClr val="075642"/>
                </a:solidFill>
                <a:latin typeface="Microsoft YaHei"/>
                <a:ea typeface="Microsoft YaHei"/>
                <a:cs typeface="Microsoft YaHei"/>
              </a:rPr>
              <a:t>却看不见</a:t>
            </a:r>
            <a:endParaRPr sz="2325" b="1">
              <a:solidFill>
                <a:srgbClr val="075642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2325" b="1">
                <a:solidFill>
                  <a:srgbClr val="075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75642"/>
                </a:solidFill>
                <a:latin typeface="Microsoft YaHei"/>
                <a:ea typeface="Microsoft YaHei"/>
                <a:cs typeface="Microsoft YaHei"/>
              </a:rPr>
              <a:t>“</a:t>
            </a:r>
            <a:r>
              <a:rPr sz="2325" b="1">
                <a:solidFill>
                  <a:srgbClr val="075642"/>
                </a:solidFill>
                <a:latin typeface="Microsoft YaHei"/>
                <a:ea typeface="Microsoft YaHei"/>
                <a:cs typeface="Microsoft YaHei"/>
              </a:rPr>
              <a:t>谁没懂、哪里没懂、为什么没懂</a:t>
            </a:r>
            <a:r>
              <a:rPr sz="2325" b="1">
                <a:solidFill>
                  <a:srgbClr val="075642"/>
                </a:solidFill>
                <a:latin typeface="Microsoft YaHei"/>
                <a:ea typeface="Microsoft YaHei"/>
                <a:cs typeface="Microsoft YaHei"/>
              </a:rPr>
              <a:t>”。</a:t>
            </a:r>
          </a:p>
        </p:txBody>
      </p:sp>
      <p:sp>
        <p:nvSpPr>
          <p:cNvPr id="46" name="s2-a-num">
            <a:extLst xmlns:a="http://schemas.openxmlformats.org/drawingml/2006/main">
              <a:ext uri="{FF2B5EF4-FFF2-40B4-BE49-F238E27FC236}">
                <a16:creationId xmlns:a16="http://schemas.microsoft.com/office/drawing/2014/main" id="{A47F1E76-7ADB-4B31-BE63-0D726D1D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6396" y="201396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7" name="s2-a-heading">
            <a:extLst xmlns:a="http://schemas.openxmlformats.org/drawingml/2006/main">
              <a:ext uri="{FF2B5EF4-FFF2-40B4-BE49-F238E27FC236}">
                <a16:creationId xmlns:a16="http://schemas.microsoft.com/office/drawing/2014/main" id="{DF3D3BB3-709B-4C7C-8372-FE89882C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8846" y="1994915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230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02C"/>
                </a:solidFill>
                <a:latin typeface="Microsoft YaHei"/>
                <a:ea typeface="Microsoft YaHei"/>
                <a:cs typeface="Microsoft YaHei"/>
              </a:rPr>
              <a:t>发现太晚</a:t>
            </a:r>
          </a:p>
        </p:txBody>
      </p:sp>
      <p:sp>
        <p:nvSpPr>
          <p:cNvPr id="49" name="s2-b-num">
            <a:extLst xmlns:a="http://schemas.openxmlformats.org/drawingml/2006/main">
              <a:ext uri="{FF2B5EF4-FFF2-40B4-BE49-F238E27FC236}">
                <a16:creationId xmlns:a16="http://schemas.microsoft.com/office/drawing/2014/main" id="{1ED47BE7-6102-494B-821E-A963A9B7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6396" y="289026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58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0" name="s2-b-heading">
            <a:extLst xmlns:a="http://schemas.openxmlformats.org/drawingml/2006/main">
              <a:ext uri="{FF2B5EF4-FFF2-40B4-BE49-F238E27FC236}">
                <a16:creationId xmlns:a16="http://schemas.microsoft.com/office/drawing/2014/main" id="{4AC45592-9FA8-4C52-BF6D-BD6AA61D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8846" y="2871215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230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02C"/>
                </a:solidFill>
                <a:latin typeface="Microsoft YaHei"/>
                <a:ea typeface="Microsoft YaHei"/>
                <a:cs typeface="Microsoft YaHei"/>
              </a:rPr>
              <a:t>定位太粗</a:t>
            </a:r>
          </a:p>
        </p:txBody>
      </p:sp>
      <p:sp>
        <p:nvSpPr>
          <p:cNvPr id="52" name="s2-c-num">
            <a:extLst xmlns:a="http://schemas.openxmlformats.org/drawingml/2006/main">
              <a:ext uri="{FF2B5EF4-FFF2-40B4-BE49-F238E27FC236}">
                <a16:creationId xmlns:a16="http://schemas.microsoft.com/office/drawing/2014/main" id="{9B8F7232-07D4-4001-A250-A21EF689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6396" y="376656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82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3" name="s2-c-heading">
            <a:extLst xmlns:a="http://schemas.openxmlformats.org/drawingml/2006/main">
              <a:ext uri="{FF2B5EF4-FFF2-40B4-BE49-F238E27FC236}">
                <a16:creationId xmlns:a16="http://schemas.microsoft.com/office/drawing/2014/main" id="{112248A3-F8D6-47EF-963B-0F95644E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8846" y="3747515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230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2302C"/>
                </a:solidFill>
                <a:latin typeface="Microsoft YaHei"/>
                <a:ea typeface="Microsoft YaHei"/>
                <a:cs typeface="Microsoft YaHei"/>
              </a:rPr>
              <a:t>调整太慢</a:t>
            </a:r>
          </a:p>
        </p:txBody>
      </p:sp>
      <p:sp>
        <p:nvSpPr>
          <p:cNvPr id="57" name="s2-takeaway">
            <a:extLst xmlns:a="http://schemas.openxmlformats.org/drawingml/2006/main">
              <a:ext uri="{FF2B5EF4-FFF2-40B4-BE49-F238E27FC236}">
                <a16:creationId xmlns:a16="http://schemas.microsoft.com/office/drawing/2014/main" id="{305C2D6D-5C50-409E-B7B7-72D6B814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48789"/>
            <a:ext cx="105918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0775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项目机会：为传统课堂增加一层持续工作的“认知反馈层</a:t>
            </a: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”。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C0D9E851-7FAD-E135-9EDB-15DCD289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29415"/>
            <a:ext cx="4395019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华文中宋"/>
                <a:ea typeface="华文中宋"/>
                <a:cs typeface="华文中宋"/>
              </a:rPr>
              <a:t>常到课后作业或考试，问题才集中暴露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919F7CCF-774D-B97C-6AF7-04A5A580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18595"/>
            <a:ext cx="461619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华文中宋"/>
                <a:ea typeface="华文中宋"/>
                <a:cs typeface="华文中宋"/>
              </a:rPr>
              <a:t>只有对错与分数，缺少“误区原因”和证据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994D9EB-1B18-6637-997B-F7BDEDCF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8846" y="4128748"/>
            <a:ext cx="461619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华文中宋"/>
                <a:ea typeface="华文中宋"/>
                <a:cs typeface="华文中宋"/>
              </a:rPr>
              <a:t>老师难在本节课内完成补讲、负责与确认</a:t>
            </a:r>
          </a:p>
        </p:txBody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24F54B34-E576-9DDC-5D0A-951DC311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64" y="891373"/>
            <a:ext cx="1444555" cy="449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微软雅黑"/>
                <a:ea typeface="微软雅黑"/>
                <a:cs typeface="微软雅黑"/>
              </a:rPr>
              <a:t>小班面对面</a:t>
            </a: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C226DA44-B3D4-042D-19EE-E0D982BE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95" y="1432006"/>
            <a:ext cx="4975122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10–20 人</a:t>
            </a:r>
            <a:br/>
            <a:r>
              <a:rPr>
                <a:latin typeface="Times New Roman"/>
                <a:ea typeface="Times New Roman"/>
                <a:cs typeface="Times New Roman"/>
              </a:rPr>
              <a:t>老师可以直接提问、观察和追问</a:t>
            </a:r>
            <a:br/>
            <a:r>
              <a:rPr b="1">
                <a:latin typeface="Times New Roman"/>
                <a:ea typeface="Times New Roman"/>
                <a:cs typeface="Times New Roman"/>
              </a:rPr>
              <a:t>ClassLoop 价值有限</a:t>
            </a: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0" name="矩形: 圆角 19">
            <a:extLst xmlns:a="http://schemas.openxmlformats.org/drawingml/2006/main">
              <a:ext uri="{FF2B5EF4-FFF2-40B4-BE49-F238E27FC236}">
                <a16:creationId xmlns:a16="http://schemas.microsoft.com/office/drawing/2014/main" id="{8BFC1A8E-6ECA-4C85-FCE1-B0C2791F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483" y="2391735"/>
            <a:ext cx="1444555" cy="449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A58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微软雅黑"/>
                <a:ea typeface="微软雅黑"/>
                <a:cs typeface="微软雅黑"/>
              </a:rPr>
              <a:t>大学大班课</a:t>
            </a:r>
            <a:endParaRPr b="1"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: 圆角 21">
            <a:extLst xmlns:a="http://schemas.openxmlformats.org/drawingml/2006/main">
              <a:ext uri="{FF2B5EF4-FFF2-40B4-BE49-F238E27FC236}">
                <a16:creationId xmlns:a16="http://schemas.microsoft.com/office/drawing/2014/main" id="{186EC677-8943-9642-BABF-7BA4DB86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40" y="3888769"/>
            <a:ext cx="1952392" cy="449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782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微软雅黑"/>
                <a:ea typeface="微软雅黑"/>
                <a:cs typeface="微软雅黑"/>
              </a:rPr>
              <a:t>在线 / 混合课堂</a:t>
            </a:r>
            <a:endParaRPr b="1"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B15B47B3-8876-704D-BC34-E04D8857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95" y="2901103"/>
            <a:ext cx="4975122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80–200 人</a:t>
            </a:r>
            <a:br/>
            <a:r>
              <a:rPr>
                <a:latin typeface="Times New Roman"/>
                <a:ea typeface="Times New Roman"/>
                <a:cs typeface="Times New Roman"/>
              </a:rPr>
              <a:t>教师只能听到少量主动发言</a:t>
            </a:r>
            <a:br/>
            <a:r>
              <a:rPr b="1">
                <a:latin typeface="Times New Roman"/>
                <a:ea typeface="Times New Roman"/>
                <a:cs typeface="Times New Roman"/>
              </a:rPr>
              <a:t>难以感知大多数学生是否掉队</a:t>
            </a: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E74F4356-7D71-C4A6-0AEB-BA8F4438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483" y="4364227"/>
            <a:ext cx="4975122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华文中宋"/>
                <a:ea typeface="华文中宋"/>
                <a:cs typeface="华文中宋"/>
              </a:rPr>
              <a:t>学生分散、非语言反馈更少</a:t>
            </a:r>
            <a:br/>
            <a:r>
              <a:rPr>
                <a:latin typeface="华文中宋"/>
                <a:ea typeface="华文中宋"/>
                <a:cs typeface="华文中宋"/>
              </a:rPr>
              <a:t>聊天区与举手只能覆盖少数人</a:t>
            </a:r>
            <a:br/>
            <a:r>
              <a:rPr b="1">
                <a:latin typeface="华文中宋"/>
                <a:ea typeface="华文中宋"/>
                <a:cs typeface="华文中宋"/>
              </a:rPr>
              <a:t>理解状态更加不可见</a:t>
            </a:r>
            <a:endParaRPr>
              <a:latin typeface="华文中宋"/>
              <a:ea typeface="华文中宋"/>
              <a:cs typeface="华文中宋"/>
            </a:endParaRPr>
          </a:p>
        </p:txBody>
      </p:sp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2B0A276B-0746-48DF-8492-7BCB69D8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9084" y="907129"/>
            <a:ext cx="0" cy="4380428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775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4952418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7DB4774-D909-472A-BB0A-17A6808B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" cy="589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5B"/>
          </a:solidFill>
          <a:ln xmlns:a="http://schemas.openxmlformats.org/drawingml/2006/main" w="12700">
            <a:solidFill>
              <a:srgbClr val="0077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A392638-2D03-4DCD-A297-C9658177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" y="0"/>
            <a:ext cx="66751" cy="589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513"/>
          </a:solidFill>
          <a:ln xmlns:a="http://schemas.openxmlformats.org/drawingml/2006/main" w="12700">
            <a:solidFill>
              <a:srgbClr val="D5651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16FFE84-E26E-4944-BE3F-A8B62CC6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175" b="1">
                <a:solidFill>
                  <a:srgbClr val="2230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302C"/>
                </a:solidFill>
                <a:latin typeface="Microsoft YaHei"/>
                <a:ea typeface="Microsoft YaHei"/>
                <a:cs typeface="Microsoft YaHei"/>
              </a:rPr>
              <a:t>我们不在“会讲题”上重复竞争，而在同步课堂闭环上切入</a:t>
            </a:r>
            <a:endParaRPr sz="22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C2D6605-18B1-4DEB-AFC4-D268857C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589788"/>
            <a:ext cx="1111910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9D3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457240c91e48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48672" y="137160"/>
            <a:ext cx="1563624" cy="342900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91AA4B9-7775-43C6-A61E-4717AE8D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8952"/>
            <a:ext cx="42976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75" b="1">
                <a:solidFill>
                  <a:srgbClr val="E8782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87822"/>
                </a:solidFill>
                <a:latin typeface="Arial"/>
                <a:ea typeface="Arial"/>
                <a:cs typeface="Arial"/>
              </a:rPr>
              <a:t>COMPETITIVE GAP, NOT FEATURE DENIAL</a:t>
            </a:r>
            <a:endParaRPr sz="105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F5CC256F-4F15-43AD-85C7-A851BDEA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2590"/>
            <a:ext cx="11810390" cy="305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5B"/>
          </a:solidFill>
          <a:ln xmlns:a="http://schemas.openxmlformats.org/drawingml/2006/main" w="12700">
            <a:solidFill>
              <a:srgbClr val="0077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91106337-5F2E-4BF2-8D42-67272457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0390" y="6552590"/>
            <a:ext cx="381305" cy="305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513"/>
          </a:solidFill>
          <a:ln xmlns:a="http://schemas.openxmlformats.org/drawingml/2006/main" w="12700">
            <a:solidFill>
              <a:srgbClr val="D5651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6E118BF-7ECB-4C7D-BE88-4DF71FA9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583680"/>
            <a:ext cx="24688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格物致知 · 守正创新</a:t>
            </a:r>
            <a:endParaRPr sz="92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FBE831E-D0E8-47CE-BFB1-24E376F4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6583680"/>
            <a:ext cx="3703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CLASSLOOP · SUMMER TERM PROPOSAL</a:t>
            </a:r>
            <a:endParaRPr sz="87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6E136CF-A89C-41E1-BE5F-98C111C1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2336" y="6565392"/>
            <a:ext cx="329184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  <a:endParaRPr sz="950"/>
          </a:p>
        </p:txBody>
      </p:sp>
      <p:sp>
        <p:nvSpPr>
          <p:cNvPr id="52" name="s3-intro">
            <a:extLst xmlns:a="http://schemas.openxmlformats.org/drawingml/2006/main">
              <a:ext uri="{FF2B5EF4-FFF2-40B4-BE49-F238E27FC236}">
                <a16:creationId xmlns:a16="http://schemas.microsoft.com/office/drawing/2014/main" id="{3FC5C77F-6701-49A4-A436-164BAC1A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5B6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775B"/>
                </a:solidFill>
              </a:rPr>
              <a:t>GPT 能回答一个学生的问题，但不能直接告诉老师“整个班级卡在哪里”</a:t>
            </a:r>
            <a:endParaRPr sz="1650" b="1">
              <a:solidFill>
                <a:srgbClr val="00775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3" name="s3-h0">
            <a:extLst xmlns:a="http://schemas.openxmlformats.org/drawingml/2006/main">
              <a:ext uri="{FF2B5EF4-FFF2-40B4-BE49-F238E27FC236}">
                <a16:creationId xmlns:a16="http://schemas.microsoft.com/office/drawing/2014/main" id="{115F71EE-E831-4E0C-AFB6-2598A754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2647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6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代表形态</a:t>
            </a:r>
          </a:p>
        </p:txBody>
      </p:sp>
      <p:sp>
        <p:nvSpPr>
          <p:cNvPr id="54" name="s3-h1">
            <a:extLst xmlns:a="http://schemas.openxmlformats.org/drawingml/2006/main">
              <a:ext uri="{FF2B5EF4-FFF2-40B4-BE49-F238E27FC236}">
                <a16:creationId xmlns:a16="http://schemas.microsoft.com/office/drawing/2014/main" id="{E0D4B26E-52F3-44E6-AE3D-4ADC37E3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57350"/>
            <a:ext cx="352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6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官方已具备的强项</a:t>
            </a:r>
          </a:p>
        </p:txBody>
      </p:sp>
      <p:sp>
        <p:nvSpPr>
          <p:cNvPr id="55" name="s3-h2">
            <a:extLst xmlns:a="http://schemas.openxmlformats.org/drawingml/2006/main">
              <a:ext uri="{FF2B5EF4-FFF2-40B4-BE49-F238E27FC236}">
                <a16:creationId xmlns:a16="http://schemas.microsoft.com/office/drawing/2014/main" id="{DE40B4A0-EB0A-4363-9FCB-F5A52650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57350"/>
            <a:ext cx="266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6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本项目不重复造的轮子</a:t>
            </a:r>
          </a:p>
        </p:txBody>
      </p:sp>
      <p:sp>
        <p:nvSpPr>
          <p:cNvPr id="56" name="s3-h3">
            <a:extLst xmlns:a="http://schemas.openxmlformats.org/drawingml/2006/main">
              <a:ext uri="{FF2B5EF4-FFF2-40B4-BE49-F238E27FC236}">
                <a16:creationId xmlns:a16="http://schemas.microsoft.com/office/drawing/2014/main" id="{AAAB9B01-B465-48E8-92C2-3167108F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57350"/>
            <a:ext cx="1752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82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同步课堂仍缺的连接</a:t>
            </a:r>
          </a:p>
        </p:txBody>
      </p:sp>
      <p:sp>
        <p:nvSpPr>
          <p:cNvPr id="57" name="s3-r0c0">
            <a:extLst xmlns:a="http://schemas.openxmlformats.org/drawingml/2006/main">
              <a:ext uri="{FF2B5EF4-FFF2-40B4-BE49-F238E27FC236}">
                <a16:creationId xmlns:a16="http://schemas.microsoft.com/office/drawing/2014/main" id="{B108C8E3-596F-4116-928D-DF54AF61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647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8"/>
          </a:solidFill>
          <a:ln xmlns:a="http://schemas.openxmlformats.org/drawingml/2006/main" w="9525">
            <a:solidFill>
              <a:srgbClr val="D8E2DF"/>
            </a:solidFill>
            <a:prstDash val="solid"/>
          </a:ln>
        </p:spPr>
        <p:txBody>
          <a:bodyPr xmlns:a="http://schemas.openxmlformats.org/drawingml/2006/main" lIns="95250" tIns="66675" rIns="95250" bIns="66675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230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02C"/>
                </a:solidFill>
                <a:latin typeface="Microsoft YaHei"/>
                <a:ea typeface="Microsoft YaHei"/>
                <a:cs typeface="Microsoft YaHei"/>
              </a:rPr>
              <a:t>ChatGPT Study Mode</a:t>
            </a:r>
          </a:p>
        </p:txBody>
      </p:sp>
      <p:sp>
        <p:nvSpPr>
          <p:cNvPr id="58" name="s3-r0c1">
            <a:extLst xmlns:a="http://schemas.openxmlformats.org/drawingml/2006/main">
              <a:ext uri="{FF2B5EF4-FFF2-40B4-BE49-F238E27FC236}">
                <a16:creationId xmlns:a16="http://schemas.microsoft.com/office/drawing/2014/main" id="{8E8E5738-3911-4925-A2C4-D6A7CC07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76450"/>
            <a:ext cx="352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8"/>
          </a:solidFill>
          <a:ln xmlns:a="http://schemas.openxmlformats.org/drawingml/2006/main" w="9525">
            <a:solidFill>
              <a:srgbClr val="D8E2DF"/>
            </a:solidFill>
            <a:prstDash val="solid"/>
          </a:ln>
        </p:spPr>
        <p:txBody>
          <a:bodyPr xmlns:a="http://schemas.openxmlformats.org/drawingml/2006/main" lIns="95250" tIns="66675" rIns="95250" bIns="66675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1">
                <a:solidFill>
                  <a:srgbClr val="2230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>
                <a:solidFill>
                  <a:srgbClr val="22302C"/>
                </a:solidFill>
                <a:latin typeface="华文中宋"/>
                <a:ea typeface="华文中宋"/>
                <a:cs typeface="华文中宋"/>
              </a:rPr>
              <a:t>分步引导、提问、知识检查</a:t>
            </a:r>
            <a:endParaRPr sz="1600">
              <a:solidFill>
                <a:srgbClr val="22302C"/>
              </a:solidFill>
              <a:latin typeface="华文中宋"/>
              <a:ea typeface="华文中宋"/>
              <a:cs typeface="华文中宋"/>
            </a:endParaRPr>
          </a:p>
          <a:p xmlns:a="http://schemas.openxmlformats.org/drawingml/2006/main">
            <a:pPr algn="ctr">
              <a:lnSpc>
                <a:spcPct val="125000"/>
              </a:lnSpc>
              <a:buNone/>
              <a:defRPr sz="1200" b="1">
                <a:solidFill>
                  <a:srgbClr val="2230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>
                <a:solidFill>
                  <a:srgbClr val="22302C"/>
                </a:solidFill>
                <a:latin typeface="华文中宋"/>
                <a:ea typeface="华文中宋"/>
                <a:cs typeface="华文中宋"/>
              </a:rPr>
              <a:t>可结合用户上传材料</a:t>
            </a:r>
            <a:endParaRPr sz="1600">
              <a:solidFill>
                <a:srgbClr val="22302C"/>
              </a:solidFill>
              <a:latin typeface="华文中宋"/>
              <a:ea typeface="华文中宋"/>
              <a:cs typeface="华文中宋"/>
            </a:endParaRPr>
          </a:p>
        </p:txBody>
      </p:sp>
      <p:sp>
        <p:nvSpPr>
          <p:cNvPr id="59" name="s3-r0c2">
            <a:extLst xmlns:a="http://schemas.openxmlformats.org/drawingml/2006/main">
              <a:ext uri="{FF2B5EF4-FFF2-40B4-BE49-F238E27FC236}">
                <a16:creationId xmlns:a16="http://schemas.microsoft.com/office/drawing/2014/main" id="{72580DE8-B276-44B1-9BDB-01E857CF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76450"/>
            <a:ext cx="266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8"/>
          </a:solidFill>
          <a:ln xmlns:a="http://schemas.openxmlformats.org/drawingml/2006/main" w="9525">
            <a:solidFill>
              <a:srgbClr val="D8E2DF"/>
            </a:solidFill>
            <a:prstDash val="solid"/>
          </a:ln>
        </p:spPr>
        <p:txBody>
          <a:bodyPr xmlns:a="http://schemas.openxmlformats.org/drawingml/2006/main" lIns="95250" tIns="66675" rIns="95250" bIns="66675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1">
                <a:solidFill>
                  <a:srgbClr val="2230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2302C"/>
                </a:solidFill>
                <a:latin typeface="华文中宋"/>
                <a:ea typeface="华文中宋"/>
                <a:cs typeface="华文中宋"/>
              </a:rPr>
              <a:t>不把“苏格拉底式追问”包装成独家创</a:t>
            </a:r>
            <a:r>
              <a:rPr sz="1600" b="1">
                <a:solidFill>
                  <a:srgbClr val="22302C"/>
                </a:solidFill>
                <a:latin typeface="华文中宋"/>
                <a:ea typeface="华文中宋"/>
                <a:cs typeface="华文中宋"/>
              </a:rPr>
              <a:t>新</a:t>
            </a:r>
            <a:endParaRPr sz="1600" b="1">
              <a:solidFill>
                <a:srgbClr val="22302C"/>
              </a:solidFill>
              <a:latin typeface="华文中宋"/>
              <a:ea typeface="华文中宋"/>
              <a:cs typeface="华文中宋"/>
            </a:endParaRPr>
          </a:p>
        </p:txBody>
      </p:sp>
      <p:sp>
        <p:nvSpPr>
          <p:cNvPr id="60" name="s3-r0c3">
            <a:extLst xmlns:a="http://schemas.openxmlformats.org/drawingml/2006/main">
              <a:ext uri="{FF2B5EF4-FFF2-40B4-BE49-F238E27FC236}">
                <a16:creationId xmlns:a16="http://schemas.microsoft.com/office/drawing/2014/main" id="{1963E13F-E368-4725-9257-2C63223B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76450"/>
            <a:ext cx="1752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1"/>
          </a:solidFill>
          <a:ln xmlns:a="http://schemas.openxmlformats.org/drawingml/2006/main" w="9525">
            <a:solidFill>
              <a:srgbClr val="D8E2DF"/>
            </a:solidFill>
            <a:prstDash val="solid"/>
          </a:ln>
        </p:spPr>
        <p:txBody>
          <a:bodyPr xmlns:a="http://schemas.openxmlformats.org/drawingml/2006/main" lIns="95250" tIns="66675" rIns="95250" bIns="666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75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075642"/>
                </a:solidFill>
                <a:latin typeface="华文中宋"/>
                <a:ea typeface="华文中宋"/>
                <a:cs typeface="华文中宋"/>
              </a:rPr>
              <a:t>会话</a:t>
            </a:r>
            <a:r>
              <a:rPr sz="1600" b="1">
                <a:solidFill>
                  <a:srgbClr val="075642"/>
                </a:solidFill>
                <a:latin typeface="华文中宋"/>
                <a:ea typeface="华文中宋"/>
                <a:cs typeface="华文中宋"/>
              </a:rPr>
              <a:t> ≠ </a:t>
            </a:r>
            <a:r>
              <a:rPr sz="1600" b="1">
                <a:solidFill>
                  <a:srgbClr val="075642"/>
                </a:solidFill>
                <a:latin typeface="华文中宋"/>
                <a:ea typeface="华文中宋"/>
                <a:cs typeface="华文中宋"/>
              </a:rPr>
              <a:t>本节课实时状态</a:t>
            </a:r>
            <a:endParaRPr sz="1600" b="1">
              <a:solidFill>
                <a:srgbClr val="075642"/>
              </a:solidFill>
              <a:latin typeface="华文中宋"/>
              <a:ea typeface="华文中宋"/>
              <a:cs typeface="华文中宋"/>
            </a:endParaRPr>
          </a:p>
        </p:txBody>
      </p:sp>
      <p:sp>
        <p:nvSpPr>
          <p:cNvPr id="61" name="s3-r1c0">
            <a:extLst xmlns:a="http://schemas.openxmlformats.org/drawingml/2006/main">
              <a:ext uri="{FF2B5EF4-FFF2-40B4-BE49-F238E27FC236}">
                <a16:creationId xmlns:a16="http://schemas.microsoft.com/office/drawing/2014/main" id="{A2519015-705F-4616-A2EA-5B9C9FE5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647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F"/>
            </a:solidFill>
            <a:prstDash val="solid"/>
          </a:ln>
        </p:spPr>
        <p:txBody>
          <a:bodyPr xmlns:a="http://schemas.openxmlformats.org/drawingml/2006/main" lIns="95250" tIns="66675" rIns="95250" bIns="66675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230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02C"/>
                </a:solidFill>
                <a:latin typeface="Microsoft YaHei"/>
                <a:ea typeface="Microsoft YaHei"/>
                <a:cs typeface="Microsoft YaHei"/>
              </a:rPr>
              <a:t>Khanmigo / Class Companion</a:t>
            </a:r>
          </a:p>
        </p:txBody>
      </p:sp>
      <p:sp>
        <p:nvSpPr>
          <p:cNvPr id="62" name="s3-r1c1">
            <a:extLst xmlns:a="http://schemas.openxmlformats.org/drawingml/2006/main">
              <a:ext uri="{FF2B5EF4-FFF2-40B4-BE49-F238E27FC236}">
                <a16:creationId xmlns:a16="http://schemas.microsoft.com/office/drawing/2014/main" id="{70980F84-EE82-401F-AB5A-17CBD64D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71800"/>
            <a:ext cx="352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F"/>
            </a:solidFill>
            <a:prstDash val="solid"/>
          </a:ln>
        </p:spPr>
        <p:txBody>
          <a:bodyPr xmlns:a="http://schemas.openxmlformats.org/drawingml/2006/main" lIns="95250" tIns="66675" rIns="95250" bIns="66675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1">
                <a:solidFill>
                  <a:srgbClr val="2230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2302C"/>
                </a:solidFill>
                <a:latin typeface="华文中宋"/>
                <a:ea typeface="华文中宋"/>
                <a:cs typeface="华文中宋"/>
              </a:rPr>
              <a:t>AI </a:t>
            </a:r>
            <a:r>
              <a:rPr sz="1600" b="1">
                <a:solidFill>
                  <a:srgbClr val="22302C"/>
                </a:solidFill>
                <a:latin typeface="华文中宋"/>
                <a:ea typeface="华文中宋"/>
                <a:cs typeface="华文中宋"/>
              </a:rPr>
              <a:t>辅导、即时反馈</a:t>
            </a:r>
            <a:endParaRPr sz="1600" b="1">
              <a:solidFill>
                <a:srgbClr val="22302C"/>
              </a:solidFill>
              <a:latin typeface="华文中宋"/>
              <a:ea typeface="华文中宋"/>
              <a:cs typeface="华文中宋"/>
            </a:endParaRPr>
          </a:p>
          <a:p xmlns:a="http://schemas.openxmlformats.org/drawingml/2006/main">
            <a:pPr algn="ctr">
              <a:lnSpc>
                <a:spcPct val="125000"/>
              </a:lnSpc>
              <a:buNone/>
              <a:defRPr sz="1200" b="1">
                <a:solidFill>
                  <a:srgbClr val="2230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2302C"/>
                </a:solidFill>
                <a:latin typeface="华文中宋"/>
                <a:ea typeface="华文中宋"/>
                <a:cs typeface="华文中宋"/>
              </a:rPr>
              <a:t>教师洞察与作业支持</a:t>
            </a:r>
            <a:endParaRPr sz="1600" b="1">
              <a:solidFill>
                <a:srgbClr val="22302C"/>
              </a:solidFill>
              <a:latin typeface="华文中宋"/>
              <a:ea typeface="华文中宋"/>
              <a:cs typeface="华文中宋"/>
            </a:endParaRPr>
          </a:p>
        </p:txBody>
      </p:sp>
      <p:sp>
        <p:nvSpPr>
          <p:cNvPr id="63" name="s3-r1c2">
            <a:extLst xmlns:a="http://schemas.openxmlformats.org/drawingml/2006/main">
              <a:ext uri="{FF2B5EF4-FFF2-40B4-BE49-F238E27FC236}">
                <a16:creationId xmlns:a16="http://schemas.microsoft.com/office/drawing/2014/main" id="{AEBAFD4A-73EA-4416-924F-4C0EAA76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71800"/>
            <a:ext cx="266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F"/>
            </a:solidFill>
            <a:prstDash val="solid"/>
          </a:ln>
        </p:spPr>
        <p:txBody>
          <a:bodyPr xmlns:a="http://schemas.openxmlformats.org/drawingml/2006/main" lIns="95250" tIns="66675" rIns="95250" bIns="666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230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2302C"/>
                </a:solidFill>
                <a:latin typeface="Times New Roman"/>
                <a:ea typeface="Times New Roman"/>
                <a:cs typeface="Times New Roman"/>
              </a:rPr>
              <a:t>不把“AI</a:t>
            </a:r>
            <a:r>
              <a:rPr sz="1600" b="1">
                <a:solidFill>
                  <a:srgbClr val="22302C"/>
                </a:solidFill>
                <a:latin typeface="Times New Roman"/>
                <a:ea typeface="Times New Roman"/>
                <a:cs typeface="Times New Roman"/>
              </a:rPr>
              <a:t> Tutor + </a:t>
            </a:r>
            <a:r>
              <a:rPr sz="1600" b="1">
                <a:solidFill>
                  <a:srgbClr val="22302C"/>
                </a:solidFill>
                <a:latin typeface="Times New Roman"/>
                <a:ea typeface="Times New Roman"/>
                <a:cs typeface="Times New Roman"/>
              </a:rPr>
              <a:t>教师看板”视为唯一卖点</a:t>
            </a:r>
            <a:endParaRPr sz="1600" b="1">
              <a:solidFill>
                <a:srgbClr val="22302C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4" name="s3-r1c3">
            <a:extLst xmlns:a="http://schemas.openxmlformats.org/drawingml/2006/main">
              <a:ext uri="{FF2B5EF4-FFF2-40B4-BE49-F238E27FC236}">
                <a16:creationId xmlns:a16="http://schemas.microsoft.com/office/drawing/2014/main" id="{AD84A558-DB2B-493C-9DBF-573E119D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71800"/>
            <a:ext cx="1752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1"/>
          </a:solidFill>
          <a:ln xmlns:a="http://schemas.openxmlformats.org/drawingml/2006/main" w="9525">
            <a:solidFill>
              <a:srgbClr val="D8E2DF"/>
            </a:solidFill>
            <a:prstDash val="solid"/>
          </a:ln>
        </p:spPr>
        <p:txBody>
          <a:bodyPr xmlns:a="http://schemas.openxmlformats.org/drawingml/2006/main" lIns="95250" tIns="66675" rIns="95250" bIns="666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75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075642"/>
                </a:solidFill>
                <a:latin typeface="华文中宋"/>
                <a:ea typeface="华文中宋"/>
                <a:cs typeface="华文中宋"/>
              </a:rPr>
              <a:t>个体</a:t>
            </a:r>
            <a:r>
              <a:rPr sz="1600" b="1">
                <a:solidFill>
                  <a:srgbClr val="075642"/>
                </a:solidFill>
                <a:latin typeface="华文中宋"/>
                <a:ea typeface="华文中宋"/>
                <a:cs typeface="华文中宋"/>
              </a:rPr>
              <a:t>/</a:t>
            </a:r>
            <a:r>
              <a:rPr sz="1600" b="1">
                <a:solidFill>
                  <a:srgbClr val="075642"/>
                </a:solidFill>
                <a:latin typeface="华文中宋"/>
                <a:ea typeface="华文中宋"/>
                <a:cs typeface="华文中宋"/>
              </a:rPr>
              <a:t>作业</a:t>
            </a:r>
            <a:r>
              <a:rPr sz="1600" b="1">
                <a:solidFill>
                  <a:srgbClr val="075642"/>
                </a:solidFill>
                <a:latin typeface="华文中宋"/>
                <a:ea typeface="华文中宋"/>
                <a:cs typeface="华文中宋"/>
              </a:rPr>
              <a:t> ≠ </a:t>
            </a:r>
            <a:r>
              <a:rPr sz="1600" b="1">
                <a:solidFill>
                  <a:srgbClr val="075642"/>
                </a:solidFill>
                <a:latin typeface="华文中宋"/>
                <a:ea typeface="华文中宋"/>
                <a:cs typeface="华文中宋"/>
              </a:rPr>
              <a:t>全班即时误区</a:t>
            </a:r>
            <a:endParaRPr sz="1600" b="1">
              <a:solidFill>
                <a:srgbClr val="075642"/>
              </a:solidFill>
              <a:latin typeface="华文中宋"/>
              <a:ea typeface="华文中宋"/>
              <a:cs typeface="华文中宋"/>
            </a:endParaRPr>
          </a:p>
        </p:txBody>
      </p:sp>
      <p:sp>
        <p:nvSpPr>
          <p:cNvPr id="65" name="s3-r2c0">
            <a:extLst xmlns:a="http://schemas.openxmlformats.org/drawingml/2006/main">
              <a:ext uri="{FF2B5EF4-FFF2-40B4-BE49-F238E27FC236}">
                <a16:creationId xmlns:a16="http://schemas.microsoft.com/office/drawing/2014/main" id="{026CB106-6D9E-4600-AFE2-5749013B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2647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8"/>
          </a:solidFill>
          <a:ln xmlns:a="http://schemas.openxmlformats.org/drawingml/2006/main" w="9525">
            <a:solidFill>
              <a:srgbClr val="D8E2DF"/>
            </a:solidFill>
            <a:prstDash val="solid"/>
          </a:ln>
        </p:spPr>
        <p:txBody>
          <a:bodyPr xmlns:a="http://schemas.openxmlformats.org/drawingml/2006/main" lIns="95250" tIns="66675" rIns="95250" bIns="66675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230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02C"/>
                </a:solidFill>
                <a:latin typeface="Microsoft YaHei"/>
                <a:ea typeface="Microsoft YaHei"/>
                <a:cs typeface="Microsoft YaHei"/>
              </a:rPr>
              <a:t>CENTURY 类自适应平台</a:t>
            </a:r>
          </a:p>
        </p:txBody>
      </p:sp>
      <p:sp>
        <p:nvSpPr>
          <p:cNvPr id="66" name="s3-r2c1">
            <a:extLst xmlns:a="http://schemas.openxmlformats.org/drawingml/2006/main">
              <a:ext uri="{FF2B5EF4-FFF2-40B4-BE49-F238E27FC236}">
                <a16:creationId xmlns:a16="http://schemas.microsoft.com/office/drawing/2014/main" id="{471FE669-C763-4A82-9D0D-C14187DC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67150"/>
            <a:ext cx="352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8"/>
          </a:solidFill>
          <a:ln xmlns:a="http://schemas.openxmlformats.org/drawingml/2006/main" w="9525">
            <a:solidFill>
              <a:srgbClr val="D8E2DF"/>
            </a:solidFill>
            <a:prstDash val="solid"/>
          </a:ln>
        </p:spPr>
        <p:txBody>
          <a:bodyPr xmlns:a="http://schemas.openxmlformats.org/drawingml/2006/main" lIns="95250" tIns="66675" rIns="95250" bIns="66675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1">
                <a:solidFill>
                  <a:srgbClr val="2230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2302C"/>
                </a:solidFill>
                <a:latin typeface="华文中宋"/>
                <a:ea typeface="华文中宋"/>
                <a:cs typeface="华文中宋"/>
              </a:rPr>
              <a:t>知识追踪、个性化路径与</a:t>
            </a:r>
            <a:endParaRPr sz="1600" b="1">
              <a:solidFill>
                <a:srgbClr val="22302C"/>
              </a:solidFill>
              <a:latin typeface="华文中宋"/>
              <a:ea typeface="华文中宋"/>
              <a:cs typeface="华文中宋"/>
            </a:endParaRPr>
          </a:p>
          <a:p xmlns:a="http://schemas.openxmlformats.org/drawingml/2006/main">
            <a:pPr algn="ctr">
              <a:lnSpc>
                <a:spcPct val="125000"/>
              </a:lnSpc>
              <a:buNone/>
              <a:defRPr sz="1200" b="1">
                <a:solidFill>
                  <a:srgbClr val="2230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2302C"/>
                </a:solidFill>
                <a:latin typeface="华文中宋"/>
                <a:ea typeface="华文中宋"/>
                <a:cs typeface="华文中宋"/>
              </a:rPr>
              <a:t>教师数据洞察</a:t>
            </a:r>
            <a:endParaRPr sz="1600" b="1">
              <a:solidFill>
                <a:srgbClr val="22302C"/>
              </a:solidFill>
              <a:latin typeface="华文中宋"/>
              <a:ea typeface="华文中宋"/>
              <a:cs typeface="华文中宋"/>
            </a:endParaRPr>
          </a:p>
        </p:txBody>
      </p:sp>
      <p:sp>
        <p:nvSpPr>
          <p:cNvPr id="67" name="s3-r2c2">
            <a:extLst xmlns:a="http://schemas.openxmlformats.org/drawingml/2006/main">
              <a:ext uri="{FF2B5EF4-FFF2-40B4-BE49-F238E27FC236}">
                <a16:creationId xmlns:a16="http://schemas.microsoft.com/office/drawing/2014/main" id="{4DD53F74-ABFB-49C3-A4EA-B4179EED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67150"/>
            <a:ext cx="266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8"/>
          </a:solidFill>
          <a:ln xmlns:a="http://schemas.openxmlformats.org/drawingml/2006/main" w="9525">
            <a:solidFill>
              <a:srgbClr val="D8E2DF"/>
            </a:solidFill>
            <a:prstDash val="solid"/>
          </a:ln>
        </p:spPr>
        <p:txBody>
          <a:bodyPr xmlns:a="http://schemas.openxmlformats.org/drawingml/2006/main" lIns="95250" tIns="66675" rIns="95250" bIns="666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230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2302C"/>
                </a:solidFill>
                <a:latin typeface="Times New Roman"/>
                <a:ea typeface="Times New Roman"/>
                <a:cs typeface="Times New Roman"/>
              </a:rPr>
              <a:t>不把“学习画像”本身当作差异化终点</a:t>
            </a:r>
            <a:endParaRPr sz="1600" b="1">
              <a:solidFill>
                <a:srgbClr val="22302C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8" name="s3-r2c3">
            <a:extLst xmlns:a="http://schemas.openxmlformats.org/drawingml/2006/main">
              <a:ext uri="{FF2B5EF4-FFF2-40B4-BE49-F238E27FC236}">
                <a16:creationId xmlns:a16="http://schemas.microsoft.com/office/drawing/2014/main" id="{B40CE1D7-7C32-4120-8BD0-101A8AEE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67150"/>
            <a:ext cx="1752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1"/>
          </a:solidFill>
          <a:ln xmlns:a="http://schemas.openxmlformats.org/drawingml/2006/main" w="9525">
            <a:solidFill>
              <a:srgbClr val="D8E2DF"/>
            </a:solidFill>
            <a:prstDash val="solid"/>
          </a:ln>
        </p:spPr>
        <p:txBody>
          <a:bodyPr xmlns:a="http://schemas.openxmlformats.org/drawingml/2006/main" lIns="95250" tIns="66675" rIns="95250" bIns="666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75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075642"/>
                </a:solidFill>
                <a:latin typeface="华文中宋"/>
                <a:ea typeface="华文中宋"/>
                <a:cs typeface="华文中宋"/>
              </a:rPr>
              <a:t>路径推荐</a:t>
            </a:r>
            <a:r>
              <a:rPr sz="1600" b="1">
                <a:solidFill>
                  <a:srgbClr val="075642"/>
                </a:solidFill>
                <a:latin typeface="华文中宋"/>
                <a:ea typeface="华文中宋"/>
                <a:cs typeface="华文中宋"/>
              </a:rPr>
              <a:t> ≠ </a:t>
            </a:r>
            <a:r>
              <a:rPr sz="1600" b="1">
                <a:solidFill>
                  <a:srgbClr val="075642"/>
                </a:solidFill>
                <a:latin typeface="华文中宋"/>
                <a:ea typeface="华文中宋"/>
                <a:cs typeface="华文中宋"/>
              </a:rPr>
              <a:t>教师干预复测</a:t>
            </a:r>
            <a:endParaRPr sz="1600" b="1">
              <a:solidFill>
                <a:srgbClr val="075642"/>
              </a:solidFill>
              <a:latin typeface="华文中宋"/>
              <a:ea typeface="华文中宋"/>
              <a:cs typeface="华文中宋"/>
            </a:endParaRPr>
          </a:p>
        </p:txBody>
      </p:sp>
      <p:sp>
        <p:nvSpPr>
          <p:cNvPr id="69" name="s3-focus-label">
            <a:extLst xmlns:a="http://schemas.openxmlformats.org/drawingml/2006/main">
              <a:ext uri="{FF2B5EF4-FFF2-40B4-BE49-F238E27FC236}">
                <a16:creationId xmlns:a16="http://schemas.microsoft.com/office/drawing/2014/main" id="{73DE7419-A0DC-438E-BD8D-63631D42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29146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E8782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ClassLoop 的差异化工程焦点</a:t>
            </a:r>
          </a:p>
        </p:txBody>
      </p:sp>
      <p:sp>
        <p:nvSpPr>
          <p:cNvPr id="70" name="s3-focus-0">
            <a:extLst xmlns:a="http://schemas.openxmlformats.org/drawingml/2006/main">
              <a:ext uri="{FF2B5EF4-FFF2-40B4-BE49-F238E27FC236}">
                <a16:creationId xmlns:a16="http://schemas.microsoft.com/office/drawing/2014/main" id="{E694C957-AECB-4CB3-8F2E-7AFCC668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010150"/>
            <a:ext cx="16954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6BFF"/>
                </a:solidFill>
                <a:latin typeface="华文中宋"/>
                <a:ea typeface="华文中宋"/>
                <a:cs typeface="华文中宋"/>
              </a:rPr>
              <a:t>实时课位</a:t>
            </a:r>
            <a:endParaRPr sz="1275" b="1">
              <a:solidFill>
                <a:srgbClr val="2F6BFF"/>
              </a:solidFill>
              <a:latin typeface="华文中宋"/>
              <a:ea typeface="华文中宋"/>
              <a:cs typeface="华文中宋"/>
            </a:endParaRPr>
          </a:p>
        </p:txBody>
      </p:sp>
      <p:sp>
        <p:nvSpPr>
          <p:cNvPr id="71" name="s3-focus-1">
            <a:extLst xmlns:a="http://schemas.openxmlformats.org/drawingml/2006/main">
              <a:ext uri="{FF2B5EF4-FFF2-40B4-BE49-F238E27FC236}">
                <a16:creationId xmlns:a16="http://schemas.microsoft.com/office/drawing/2014/main" id="{D455B09E-9D8D-4111-B938-814AF765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10150"/>
            <a:ext cx="16954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E5F7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0A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A58A"/>
                </a:solidFill>
                <a:latin typeface="华文中宋"/>
                <a:ea typeface="华文中宋"/>
                <a:cs typeface="华文中宋"/>
              </a:rPr>
              <a:t>班级误区图</a:t>
            </a:r>
            <a:endParaRPr sz="1275" b="1">
              <a:solidFill>
                <a:srgbClr val="10A58A"/>
              </a:solidFill>
              <a:latin typeface="华文中宋"/>
              <a:ea typeface="华文中宋"/>
              <a:cs typeface="华文中宋"/>
            </a:endParaRPr>
          </a:p>
        </p:txBody>
      </p:sp>
      <p:sp>
        <p:nvSpPr>
          <p:cNvPr id="72" name="s3-focus-2">
            <a:extLst xmlns:a="http://schemas.openxmlformats.org/drawingml/2006/main">
              <a:ext uri="{FF2B5EF4-FFF2-40B4-BE49-F238E27FC236}">
                <a16:creationId xmlns:a16="http://schemas.microsoft.com/office/drawing/2014/main" id="{ABDAC919-309D-43AC-8F06-C96F5481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010150"/>
            <a:ext cx="16954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0EC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7957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957D5"/>
                </a:solidFill>
                <a:latin typeface="华文中宋"/>
                <a:ea typeface="华文中宋"/>
                <a:cs typeface="华文中宋"/>
              </a:rPr>
              <a:t>教师策略控制</a:t>
            </a:r>
            <a:endParaRPr sz="1275" b="1">
              <a:solidFill>
                <a:srgbClr val="7957D5"/>
              </a:solidFill>
              <a:latin typeface="华文中宋"/>
              <a:ea typeface="华文中宋"/>
              <a:cs typeface="华文中宋"/>
            </a:endParaRPr>
          </a:p>
        </p:txBody>
      </p:sp>
      <p:sp>
        <p:nvSpPr>
          <p:cNvPr id="73" name="s3-focus-3">
            <a:extLst xmlns:a="http://schemas.openxmlformats.org/drawingml/2006/main">
              <a:ext uri="{FF2B5EF4-FFF2-40B4-BE49-F238E27FC236}">
                <a16:creationId xmlns:a16="http://schemas.microsoft.com/office/drawing/2014/main" id="{EE6D6E2C-0D10-4CBE-AA2A-9C1E267C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010150"/>
            <a:ext cx="16954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E878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87822"/>
                </a:solidFill>
                <a:latin typeface="华文中宋"/>
                <a:ea typeface="华文中宋"/>
                <a:cs typeface="华文中宋"/>
              </a:rPr>
              <a:t>干预前后复测</a:t>
            </a:r>
            <a:endParaRPr sz="1275" b="1">
              <a:solidFill>
                <a:srgbClr val="E87822"/>
              </a:solidFill>
              <a:latin typeface="华文中宋"/>
              <a:ea typeface="华文中宋"/>
              <a:cs typeface="华文中宋"/>
            </a:endParaRPr>
          </a:p>
        </p:txBody>
      </p:sp>
      <p:sp>
        <p:nvSpPr>
          <p:cNvPr id="74" name="s3-bottom">
            <a:extLst xmlns:a="http://schemas.openxmlformats.org/drawingml/2006/main">
              <a:ext uri="{FF2B5EF4-FFF2-40B4-BE49-F238E27FC236}">
                <a16:creationId xmlns:a16="http://schemas.microsoft.com/office/drawing/2014/main" id="{17C60E06-7B3A-43D5-AF17-08960E46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969" y="5524500"/>
            <a:ext cx="11810389" cy="743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75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/>
              <a:t>解决 GPT 默认不负责的问题：老师现在教什么、哪些学生没学会、全班卡在哪里、补讲之后有没有真的学会</a:t>
            </a:r>
            <a:endParaRPr sz="1900" b="1">
              <a:solidFill>
                <a:srgbClr val="075642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7119068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4B759EE-AD31-463B-B33B-7E90DE90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" cy="589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5B"/>
          </a:solidFill>
          <a:ln xmlns:a="http://schemas.openxmlformats.org/drawingml/2006/main" w="12700">
            <a:solidFill>
              <a:srgbClr val="0077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CBBF892-B5FB-47AF-83CA-CE80DE93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" y="0"/>
            <a:ext cx="66751" cy="589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513"/>
          </a:solidFill>
          <a:ln xmlns:a="http://schemas.openxmlformats.org/drawingml/2006/main" w="12700">
            <a:solidFill>
              <a:srgbClr val="D5651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A61A645-4331-4440-B6B7-D086E1D6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175" b="1">
                <a:solidFill>
                  <a:srgbClr val="2230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302C"/>
                </a:solidFill>
                <a:latin typeface="Microsoft YaHei"/>
                <a:ea typeface="Microsoft YaHei"/>
                <a:cs typeface="Microsoft YaHei"/>
              </a:rPr>
              <a:t>一节课里，ClassLoop 如何工作？</a:t>
            </a:r>
            <a:endParaRPr sz="22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5B7275E-47B8-476E-80DE-E9B59916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589788"/>
            <a:ext cx="1111910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9D3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0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e73bbafe4641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48672" y="137160"/>
            <a:ext cx="1563624" cy="342900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4FED3B39-1DCC-4791-A402-957728CD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8952"/>
            <a:ext cx="42976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75" b="0">
                <a:solidFill>
                  <a:srgbClr val="E8782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E87822"/>
                </a:solidFill>
                <a:latin typeface="Arial"/>
                <a:ea typeface="Arial"/>
                <a:cs typeface="Arial"/>
              </a:rPr>
              <a:t>SESSION · USER ACTIONS · DATA SOURCES</a:t>
            </a:r>
            <a:endParaRPr sz="105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FF8A5C08-62C0-4D23-81EE-675BBDBA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2590"/>
            <a:ext cx="11810390" cy="305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5B"/>
          </a:solidFill>
          <a:ln xmlns:a="http://schemas.openxmlformats.org/drawingml/2006/main" w="12700">
            <a:solidFill>
              <a:srgbClr val="0077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713F9792-DC14-4938-A213-0106F4AD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0390" y="6552590"/>
            <a:ext cx="381305" cy="305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513"/>
          </a:solidFill>
          <a:ln xmlns:a="http://schemas.openxmlformats.org/drawingml/2006/main" w="12700">
            <a:solidFill>
              <a:srgbClr val="D5651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3035B3BB-3E5D-4DAC-8548-BEB6AE30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583680"/>
            <a:ext cx="24688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格物致知 · 守正创新</a:t>
            </a:r>
            <a:endParaRPr sz="92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7F24FD6D-9EEE-4450-BADB-E331B261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6583680"/>
            <a:ext cx="3703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CLASSLOOP · SUMMER TERM PROPOSAL</a:t>
            </a:r>
            <a:endParaRPr sz="87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8D333EA-65F2-4257-925D-5745F704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2336" y="6565392"/>
            <a:ext cx="329184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  <a:endParaRPr sz="950"/>
          </a:p>
        </p:txBody>
      </p:sp>
      <p:sp>
        <p:nvSpPr>
          <p:cNvPr id="66" name="s4-intro">
            <a:extLst xmlns:a="http://schemas.openxmlformats.org/drawingml/2006/main">
              <a:ext uri="{FF2B5EF4-FFF2-40B4-BE49-F238E27FC236}">
                <a16:creationId xmlns:a16="http://schemas.microsoft.com/office/drawing/2014/main" id="{2D327E15-8AFC-4CDB-B87B-06FA189D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59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B67"/>
                </a:solidFill>
                <a:latin typeface="华文中宋"/>
                <a:ea typeface="华文中宋"/>
                <a:cs typeface="华文中宋"/>
              </a:defRPr>
            </a:pPr>
            <a:r>
              <a:rPr sz="1350" b="0">
                <a:solidFill>
                  <a:srgbClr val="5B6B67"/>
                </a:solidFill>
                <a:latin typeface="华文中宋"/>
                <a:ea typeface="华文中宋"/>
                <a:cs typeface="华文中宋"/>
              </a:rPr>
              <a:t>教师只在关键节点发起微交互，学生用几秒钟暴露理解证据；系统把这些证据聚合为可行动的班级状态。</a:t>
            </a:r>
          </a:p>
        </p:txBody>
      </p:sp>
      <p:sp>
        <p:nvSpPr>
          <p:cNvPr id="67" name="s4-col-0">
            <a:extLst xmlns:a="http://schemas.openxmlformats.org/drawingml/2006/main">
              <a:ext uri="{FF2B5EF4-FFF2-40B4-BE49-F238E27FC236}">
                <a16:creationId xmlns:a16="http://schemas.microsoft.com/office/drawing/2014/main" id="{FDE6F09D-5F0F-4EE9-9E52-09677080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3238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56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华文中宋"/>
                <a:ea typeface="华文中宋"/>
                <a:cs typeface="华文中宋"/>
              </a:defRPr>
            </a:pPr>
            <a:r>
              <a:rPr sz="1350" b="0">
                <a:solidFill>
                  <a:srgbClr val="FFFFFF"/>
                </a:solidFill>
                <a:latin typeface="华文中宋"/>
                <a:ea typeface="华文中宋"/>
                <a:cs typeface="华文中宋"/>
              </a:rPr>
              <a:t>教师怎么用</a:t>
            </a:r>
          </a:p>
        </p:txBody>
      </p:sp>
      <p:sp>
        <p:nvSpPr>
          <p:cNvPr id="68" name="s4-col-1">
            <a:extLst xmlns:a="http://schemas.openxmlformats.org/drawingml/2006/main">
              <a:ext uri="{FF2B5EF4-FFF2-40B4-BE49-F238E27FC236}">
                <a16:creationId xmlns:a16="http://schemas.microsoft.com/office/drawing/2014/main" id="{6FB8E72B-BABC-4D80-8577-13817765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04950"/>
            <a:ext cx="3238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华文中宋"/>
                <a:ea typeface="华文中宋"/>
                <a:cs typeface="华文中宋"/>
              </a:defRPr>
            </a:pPr>
            <a:r>
              <a:rPr sz="1350" b="0">
                <a:solidFill>
                  <a:srgbClr val="FFFFFF"/>
                </a:solidFill>
                <a:latin typeface="华文中宋"/>
                <a:ea typeface="华文中宋"/>
                <a:cs typeface="华文中宋"/>
              </a:rPr>
              <a:t>学生怎么用</a:t>
            </a:r>
          </a:p>
        </p:txBody>
      </p:sp>
      <p:sp>
        <p:nvSpPr>
          <p:cNvPr id="69" name="s4-col-2">
            <a:extLst xmlns:a="http://schemas.openxmlformats.org/drawingml/2006/main">
              <a:ext uri="{FF2B5EF4-FFF2-40B4-BE49-F238E27FC236}">
                <a16:creationId xmlns:a16="http://schemas.microsoft.com/office/drawing/2014/main" id="{67144788-AD16-4D10-BA6C-A0A32ABD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04950"/>
            <a:ext cx="3238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8782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华文中宋"/>
                <a:ea typeface="华文中宋"/>
                <a:cs typeface="华文中宋"/>
              </a:defRPr>
            </a:pPr>
            <a:r>
              <a:rPr sz="1350" b="0">
                <a:solidFill>
                  <a:srgbClr val="FFFFFF"/>
                </a:solidFill>
                <a:latin typeface="华文中宋"/>
                <a:ea typeface="华文中宋"/>
                <a:cs typeface="华文中宋"/>
              </a:rPr>
              <a:t>数据从哪里来</a:t>
            </a:r>
          </a:p>
        </p:txBody>
      </p:sp>
      <p:sp>
        <p:nvSpPr>
          <p:cNvPr id="70" name="s4-t-0-n">
            <a:extLst xmlns:a="http://schemas.openxmlformats.org/drawingml/2006/main">
              <a:ext uri="{FF2B5EF4-FFF2-40B4-BE49-F238E27FC236}">
                <a16:creationId xmlns:a16="http://schemas.microsoft.com/office/drawing/2014/main" id="{46C695B4-C615-41D2-AE9D-A58D6F11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5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1" name="s4-t-0-head">
            <a:extLst xmlns:a="http://schemas.openxmlformats.org/drawingml/2006/main">
              <a:ext uri="{FF2B5EF4-FFF2-40B4-BE49-F238E27FC236}">
                <a16:creationId xmlns:a16="http://schemas.microsoft.com/office/drawing/2014/main" id="{B3F357EF-FCFC-4BF6-9FE6-649842E0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431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87A5B"/>
                </a:solidFill>
                <a:latin typeface="华文中宋"/>
                <a:ea typeface="华文中宋"/>
                <a:cs typeface="华文中宋"/>
              </a:defRPr>
            </a:pPr>
            <a:r>
              <a:rPr sz="1275" b="0">
                <a:solidFill>
                  <a:srgbClr val="087A5B"/>
                </a:solidFill>
                <a:latin typeface="华文中宋"/>
                <a:ea typeface="华文中宋"/>
                <a:cs typeface="华文中宋"/>
              </a:rPr>
              <a:t>创建 Session</a:t>
            </a:r>
          </a:p>
        </p:txBody>
      </p:sp>
      <p:sp>
        <p:nvSpPr>
          <p:cNvPr id="72" name="s4-t-0-detail">
            <a:extLst xmlns:a="http://schemas.openxmlformats.org/drawingml/2006/main">
              <a:ext uri="{FF2B5EF4-FFF2-40B4-BE49-F238E27FC236}">
                <a16:creationId xmlns:a16="http://schemas.microsoft.com/office/drawing/2014/main" id="{1A6DC993-8D86-4786-99FA-0FF793EB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09800"/>
            <a:ext cx="26860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9F5F1"/>
          </a:solidFill>
          <a:ln xmlns:a="http://schemas.openxmlformats.org/drawingml/2006/main" w="9525">
            <a:solidFill>
              <a:srgbClr val="087A5B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67"/>
                </a:solidFill>
                <a:latin typeface="华文中宋"/>
                <a:ea typeface="华文中宋"/>
                <a:cs typeface="华文中宋"/>
              </a:defRPr>
            </a:pPr>
            <a:r>
              <a:rPr sz="1050" b="0">
                <a:solidFill>
                  <a:srgbClr val="5B6B67"/>
                </a:solidFill>
                <a:latin typeface="华文中宋"/>
                <a:ea typeface="华文中宋"/>
                <a:cs typeface="华文中宋"/>
              </a:rPr>
              <a:t>绑定课件、章节与知识点</a:t>
            </a:r>
          </a:p>
        </p:txBody>
      </p:sp>
      <p:sp>
        <p:nvSpPr>
          <p:cNvPr id="73" name="s4-t-1-n">
            <a:extLst xmlns:a="http://schemas.openxmlformats.org/drawingml/2006/main">
              <a:ext uri="{FF2B5EF4-FFF2-40B4-BE49-F238E27FC236}">
                <a16:creationId xmlns:a16="http://schemas.microsoft.com/office/drawing/2014/main" id="{512E59CB-7D86-42AF-AFCE-872E2A41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5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4" name="s4-t-1-head">
            <a:extLst xmlns:a="http://schemas.openxmlformats.org/drawingml/2006/main">
              <a:ext uri="{FF2B5EF4-FFF2-40B4-BE49-F238E27FC236}">
                <a16:creationId xmlns:a16="http://schemas.microsoft.com/office/drawing/2014/main" id="{74921789-A29E-43BB-B5B8-E2F669D4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051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87A5B"/>
                </a:solidFill>
                <a:latin typeface="华文中宋"/>
                <a:ea typeface="华文中宋"/>
                <a:cs typeface="华文中宋"/>
              </a:defRPr>
            </a:pPr>
            <a:r>
              <a:rPr sz="1275" b="0">
                <a:solidFill>
                  <a:srgbClr val="087A5B"/>
                </a:solidFill>
                <a:latin typeface="华文中宋"/>
                <a:ea typeface="华文中宋"/>
                <a:cs typeface="华文中宋"/>
              </a:rPr>
              <a:t>配置课堂策略</a:t>
            </a:r>
          </a:p>
        </p:txBody>
      </p:sp>
      <p:sp>
        <p:nvSpPr>
          <p:cNvPr id="75" name="s4-t-1-detail">
            <a:extLst xmlns:a="http://schemas.openxmlformats.org/drawingml/2006/main">
              <a:ext uri="{FF2B5EF4-FFF2-40B4-BE49-F238E27FC236}">
                <a16:creationId xmlns:a16="http://schemas.microsoft.com/office/drawing/2014/main" id="{0063B33F-65D1-4A7A-B854-B8A2AD0C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71800"/>
            <a:ext cx="26860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9F5F1"/>
          </a:solidFill>
          <a:ln xmlns:a="http://schemas.openxmlformats.org/drawingml/2006/main" w="9525">
            <a:solidFill>
              <a:srgbClr val="087A5B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67"/>
                </a:solidFill>
                <a:latin typeface="华文中宋"/>
                <a:ea typeface="华文中宋"/>
                <a:cs typeface="华文中宋"/>
              </a:defRPr>
            </a:pPr>
            <a:r>
              <a:rPr sz="1050" b="0">
                <a:solidFill>
                  <a:srgbClr val="5B6B67"/>
                </a:solidFill>
                <a:latin typeface="华文中宋"/>
                <a:ea typeface="华文中宋"/>
                <a:cs typeface="华文中宋"/>
              </a:rPr>
              <a:t>准备 3–5 个 Micro Check；设定 AI 术语和解释边界</a:t>
            </a:r>
          </a:p>
        </p:txBody>
      </p:sp>
      <p:sp>
        <p:nvSpPr>
          <p:cNvPr id="76" name="s4-t-2-n">
            <a:extLst xmlns:a="http://schemas.openxmlformats.org/drawingml/2006/main">
              <a:ext uri="{FF2B5EF4-FFF2-40B4-BE49-F238E27FC236}">
                <a16:creationId xmlns:a16="http://schemas.microsoft.com/office/drawing/2014/main" id="{776F724D-08CD-4153-A44C-DBC25588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5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7" name="s4-t-2-head">
            <a:extLst xmlns:a="http://schemas.openxmlformats.org/drawingml/2006/main">
              <a:ext uri="{FF2B5EF4-FFF2-40B4-BE49-F238E27FC236}">
                <a16:creationId xmlns:a16="http://schemas.microsoft.com/office/drawing/2014/main" id="{4FC485CA-4EF8-4D69-9FE0-8533FA98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671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87A5B"/>
                </a:solidFill>
                <a:latin typeface="华文中宋"/>
                <a:ea typeface="华文中宋"/>
                <a:cs typeface="华文中宋"/>
              </a:defRPr>
            </a:pPr>
            <a:r>
              <a:rPr sz="1275" b="0">
                <a:solidFill>
                  <a:srgbClr val="087A5B"/>
                </a:solidFill>
                <a:latin typeface="华文中宋"/>
                <a:ea typeface="华文中宋"/>
                <a:cs typeface="华文中宋"/>
              </a:rPr>
              <a:t>课中触发微检</a:t>
            </a:r>
          </a:p>
        </p:txBody>
      </p:sp>
      <p:sp>
        <p:nvSpPr>
          <p:cNvPr id="78" name="s4-t-2-detail">
            <a:extLst xmlns:a="http://schemas.openxmlformats.org/drawingml/2006/main">
              <a:ext uri="{FF2B5EF4-FFF2-40B4-BE49-F238E27FC236}">
                <a16:creationId xmlns:a16="http://schemas.microsoft.com/office/drawing/2014/main" id="{6388C327-3D2D-41E3-986C-BA87716A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33800"/>
            <a:ext cx="26860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9F5F1"/>
          </a:solidFill>
          <a:ln xmlns:a="http://schemas.openxmlformats.org/drawingml/2006/main" w="9525">
            <a:solidFill>
              <a:srgbClr val="087A5B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67"/>
                </a:solidFill>
                <a:latin typeface="华文中宋"/>
                <a:ea typeface="华文中宋"/>
                <a:cs typeface="华文中宋"/>
              </a:defRPr>
            </a:pPr>
            <a:r>
              <a:rPr sz="1050" b="0">
                <a:solidFill>
                  <a:srgbClr val="5B6B67"/>
                </a:solidFill>
                <a:latin typeface="华文中宋"/>
                <a:ea typeface="华文中宋"/>
                <a:cs typeface="华文中宋"/>
              </a:rPr>
              <a:t>关键节点发起 10–30 秒作答</a:t>
            </a:r>
          </a:p>
        </p:txBody>
      </p:sp>
      <p:sp>
        <p:nvSpPr>
          <p:cNvPr id="79" name="s4-t-3-n">
            <a:extLst xmlns:a="http://schemas.openxmlformats.org/drawingml/2006/main">
              <a:ext uri="{FF2B5EF4-FFF2-40B4-BE49-F238E27FC236}">
                <a16:creationId xmlns:a16="http://schemas.microsoft.com/office/drawing/2014/main" id="{E062514A-B10B-4242-82A3-BF3DEFA8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5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0" name="s4-t-3-head">
            <a:extLst xmlns:a="http://schemas.openxmlformats.org/drawingml/2006/main">
              <a:ext uri="{FF2B5EF4-FFF2-40B4-BE49-F238E27FC236}">
                <a16:creationId xmlns:a16="http://schemas.microsoft.com/office/drawing/2014/main" id="{D66FFF12-3705-4AFC-8700-6CFCD040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291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87A5B"/>
                </a:solidFill>
                <a:latin typeface="华文中宋"/>
                <a:ea typeface="华文中宋"/>
                <a:cs typeface="华文中宋"/>
              </a:defRPr>
            </a:pPr>
            <a:r>
              <a:rPr sz="1275" b="0">
                <a:solidFill>
                  <a:srgbClr val="087A5B"/>
                </a:solidFill>
                <a:latin typeface="华文中宋"/>
                <a:ea typeface="华文中宋"/>
                <a:cs typeface="华文中宋"/>
              </a:rPr>
              <a:t>干预并复测</a:t>
            </a:r>
          </a:p>
        </p:txBody>
      </p:sp>
      <p:sp>
        <p:nvSpPr>
          <p:cNvPr id="81" name="s4-t-3-detail">
            <a:extLst xmlns:a="http://schemas.openxmlformats.org/drawingml/2006/main">
              <a:ext uri="{FF2B5EF4-FFF2-40B4-BE49-F238E27FC236}">
                <a16:creationId xmlns:a16="http://schemas.microsoft.com/office/drawing/2014/main" id="{516DF9DA-D18B-44F7-BDBF-C12C27A1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95800"/>
            <a:ext cx="26860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9F5F1"/>
          </a:solidFill>
          <a:ln xmlns:a="http://schemas.openxmlformats.org/drawingml/2006/main" w="9525">
            <a:solidFill>
              <a:srgbClr val="087A5B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67"/>
                </a:solidFill>
                <a:latin typeface="华文中宋"/>
                <a:ea typeface="华文中宋"/>
                <a:cs typeface="华文中宋"/>
              </a:defRPr>
            </a:pPr>
            <a:r>
              <a:rPr sz="1050" b="0">
                <a:solidFill>
                  <a:srgbClr val="5B6B67"/>
                </a:solidFill>
                <a:latin typeface="华文中宋"/>
                <a:ea typeface="华文中宋"/>
                <a:cs typeface="华文中宋"/>
              </a:rPr>
              <a:t>选择补讲、反例或提示，再发一题验证</a:t>
            </a:r>
          </a:p>
        </p:txBody>
      </p:sp>
      <p:sp>
        <p:nvSpPr>
          <p:cNvPr id="82" name="s4-s-0-n">
            <a:extLst xmlns:a="http://schemas.openxmlformats.org/drawingml/2006/main">
              <a:ext uri="{FF2B5EF4-FFF2-40B4-BE49-F238E27FC236}">
                <a16:creationId xmlns:a16="http://schemas.microsoft.com/office/drawing/2014/main" id="{65E1F561-466E-42DE-83CC-5FE99DFA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57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3" name="s4-s-0-head">
            <a:extLst xmlns:a="http://schemas.openxmlformats.org/drawingml/2006/main">
              <a:ext uri="{FF2B5EF4-FFF2-40B4-BE49-F238E27FC236}">
                <a16:creationId xmlns:a16="http://schemas.microsoft.com/office/drawing/2014/main" id="{90D505F7-6ABE-478E-9780-FB9C58DF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9431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F6BFF"/>
                </a:solidFill>
                <a:latin typeface="华文中宋"/>
                <a:ea typeface="华文中宋"/>
                <a:cs typeface="华文中宋"/>
              </a:defRPr>
            </a:pPr>
            <a:r>
              <a:rPr sz="1275" b="0">
                <a:solidFill>
                  <a:srgbClr val="2F6BFF"/>
                </a:solidFill>
                <a:latin typeface="华文中宋"/>
                <a:ea typeface="华文中宋"/>
                <a:cs typeface="华文中宋"/>
              </a:rPr>
              <a:t>进入本节课</a:t>
            </a:r>
          </a:p>
        </p:txBody>
      </p:sp>
      <p:sp>
        <p:nvSpPr>
          <p:cNvPr id="84" name="s4-s-0-detail">
            <a:extLst xmlns:a="http://schemas.openxmlformats.org/drawingml/2006/main">
              <a:ext uri="{FF2B5EF4-FFF2-40B4-BE49-F238E27FC236}">
                <a16:creationId xmlns:a16="http://schemas.microsoft.com/office/drawing/2014/main" id="{1077A68D-71E1-4045-A829-E7F14364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09800"/>
            <a:ext cx="26860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67"/>
                </a:solidFill>
                <a:latin typeface="华文中宋"/>
                <a:ea typeface="华文中宋"/>
                <a:cs typeface="华文中宋"/>
              </a:defRPr>
            </a:pPr>
            <a:r>
              <a:rPr sz="1050" b="0">
                <a:solidFill>
                  <a:srgbClr val="5B6B67"/>
                </a:solidFill>
                <a:latin typeface="华文中宋"/>
                <a:ea typeface="华文中宋"/>
                <a:cs typeface="华文中宋"/>
              </a:rPr>
              <a:t>扫码或课程入口加入同一 Session</a:t>
            </a:r>
          </a:p>
        </p:txBody>
      </p:sp>
      <p:sp>
        <p:nvSpPr>
          <p:cNvPr id="85" name="s4-s-1-n">
            <a:extLst xmlns:a="http://schemas.openxmlformats.org/drawingml/2006/main">
              <a:ext uri="{FF2B5EF4-FFF2-40B4-BE49-F238E27FC236}">
                <a16:creationId xmlns:a16="http://schemas.microsoft.com/office/drawing/2014/main" id="{E5F7C5CB-3F9A-471C-8355-647433F7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19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6" name="s4-s-1-head">
            <a:extLst xmlns:a="http://schemas.openxmlformats.org/drawingml/2006/main">
              <a:ext uri="{FF2B5EF4-FFF2-40B4-BE49-F238E27FC236}">
                <a16:creationId xmlns:a16="http://schemas.microsoft.com/office/drawing/2014/main" id="{7783F33A-5A3A-4A7B-AC0C-B7CB1454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7051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F6BFF"/>
                </a:solidFill>
                <a:latin typeface="华文中宋"/>
                <a:ea typeface="华文中宋"/>
                <a:cs typeface="华文中宋"/>
              </a:defRPr>
            </a:pPr>
            <a:r>
              <a:rPr sz="1275" b="0">
                <a:solidFill>
                  <a:srgbClr val="2F6BFF"/>
                </a:solidFill>
                <a:latin typeface="华文中宋"/>
                <a:ea typeface="华文中宋"/>
                <a:cs typeface="华文中宋"/>
              </a:rPr>
              <a:t>完成微型作答</a:t>
            </a:r>
          </a:p>
        </p:txBody>
      </p:sp>
      <p:sp>
        <p:nvSpPr>
          <p:cNvPr id="87" name="s4-s-1-detail">
            <a:extLst xmlns:a="http://schemas.openxmlformats.org/drawingml/2006/main">
              <a:ext uri="{FF2B5EF4-FFF2-40B4-BE49-F238E27FC236}">
                <a16:creationId xmlns:a16="http://schemas.microsoft.com/office/drawing/2014/main" id="{8CEC4F55-8EC6-4447-A69A-88DDD3A8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71800"/>
            <a:ext cx="26860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67"/>
                </a:solidFill>
                <a:latin typeface="华文中宋"/>
                <a:ea typeface="华文中宋"/>
                <a:cs typeface="华文中宋"/>
              </a:defRPr>
            </a:pPr>
            <a:r>
              <a:rPr sz="1050" b="0">
                <a:solidFill>
                  <a:srgbClr val="5B6B67"/>
                </a:solidFill>
                <a:latin typeface="华文中宋"/>
                <a:ea typeface="华文中宋"/>
                <a:cs typeface="华文中宋"/>
              </a:rPr>
              <a:t>只在关键节点操作，不持续占用设备</a:t>
            </a:r>
          </a:p>
        </p:txBody>
      </p:sp>
      <p:sp>
        <p:nvSpPr>
          <p:cNvPr id="88" name="s4-s-2-n">
            <a:extLst xmlns:a="http://schemas.openxmlformats.org/drawingml/2006/main">
              <a:ext uri="{FF2B5EF4-FFF2-40B4-BE49-F238E27FC236}">
                <a16:creationId xmlns:a16="http://schemas.microsoft.com/office/drawing/2014/main" id="{F50E3E44-B5C5-4E25-833A-525BBD56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81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9" name="s4-s-2-head">
            <a:extLst xmlns:a="http://schemas.openxmlformats.org/drawingml/2006/main">
              <a:ext uri="{FF2B5EF4-FFF2-40B4-BE49-F238E27FC236}">
                <a16:creationId xmlns:a16="http://schemas.microsoft.com/office/drawing/2014/main" id="{9B8CDEC3-FC92-482F-99F4-2F02683F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671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F6BFF"/>
                </a:solidFill>
                <a:latin typeface="华文中宋"/>
                <a:ea typeface="华文中宋"/>
                <a:cs typeface="华文中宋"/>
              </a:defRPr>
            </a:pPr>
            <a:r>
              <a:rPr sz="1275" b="0">
                <a:solidFill>
                  <a:srgbClr val="2F6BFF"/>
                </a:solidFill>
                <a:latin typeface="华文中宋"/>
                <a:ea typeface="华文中宋"/>
                <a:cs typeface="华文中宋"/>
              </a:rPr>
              <a:t>获得针对解释</a:t>
            </a:r>
          </a:p>
        </p:txBody>
      </p:sp>
      <p:sp>
        <p:nvSpPr>
          <p:cNvPr id="90" name="s4-s-2-detail">
            <a:extLst xmlns:a="http://schemas.openxmlformats.org/drawingml/2006/main">
              <a:ext uri="{FF2B5EF4-FFF2-40B4-BE49-F238E27FC236}">
                <a16:creationId xmlns:a16="http://schemas.microsoft.com/office/drawing/2014/main" id="{22368DA8-E153-4E95-9BC5-A2085716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33800"/>
            <a:ext cx="26860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67"/>
                </a:solidFill>
                <a:latin typeface="华文中宋"/>
                <a:ea typeface="华文中宋"/>
                <a:cs typeface="华文中宋"/>
              </a:defRPr>
            </a:pPr>
            <a:r>
              <a:rPr sz="1050" b="0">
                <a:solidFill>
                  <a:srgbClr val="5B6B67"/>
                </a:solidFill>
                <a:latin typeface="华文中宋"/>
                <a:ea typeface="华文中宋"/>
                <a:cs typeface="华文中宋"/>
              </a:rPr>
              <a:t>AI 按教师策略解释当前误区</a:t>
            </a:r>
          </a:p>
        </p:txBody>
      </p:sp>
      <p:sp>
        <p:nvSpPr>
          <p:cNvPr id="91" name="s4-s-3-n">
            <a:extLst xmlns:a="http://schemas.openxmlformats.org/drawingml/2006/main">
              <a:ext uri="{FF2B5EF4-FFF2-40B4-BE49-F238E27FC236}">
                <a16:creationId xmlns:a16="http://schemas.microsoft.com/office/drawing/2014/main" id="{E8A85273-AEEF-452F-BC71-391E7C7A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43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92" name="s4-s-3-head">
            <a:extLst xmlns:a="http://schemas.openxmlformats.org/drawingml/2006/main">
              <a:ext uri="{FF2B5EF4-FFF2-40B4-BE49-F238E27FC236}">
                <a16:creationId xmlns:a16="http://schemas.microsoft.com/office/drawing/2014/main" id="{57225906-B7A0-4D5A-900F-481044CB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2291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F6BFF"/>
                </a:solidFill>
                <a:latin typeface="华文中宋"/>
                <a:ea typeface="华文中宋"/>
                <a:cs typeface="华文中宋"/>
              </a:defRPr>
            </a:pPr>
            <a:r>
              <a:rPr sz="1275" b="0">
                <a:solidFill>
                  <a:srgbClr val="2F6BFF"/>
                </a:solidFill>
                <a:latin typeface="华文中宋"/>
                <a:ea typeface="华文中宋"/>
                <a:cs typeface="华文中宋"/>
              </a:rPr>
              <a:t>再次作答</a:t>
            </a:r>
          </a:p>
        </p:txBody>
      </p:sp>
      <p:sp>
        <p:nvSpPr>
          <p:cNvPr id="93" name="s4-s-3-detail">
            <a:extLst xmlns:a="http://schemas.openxmlformats.org/drawingml/2006/main">
              <a:ext uri="{FF2B5EF4-FFF2-40B4-BE49-F238E27FC236}">
                <a16:creationId xmlns:a16="http://schemas.microsoft.com/office/drawing/2014/main" id="{9B4A07B2-9D18-4FED-8698-479973FE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95800"/>
            <a:ext cx="26860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67"/>
                </a:solidFill>
                <a:latin typeface="华文中宋"/>
                <a:ea typeface="华文中宋"/>
                <a:cs typeface="华文中宋"/>
              </a:defRPr>
            </a:pPr>
            <a:r>
              <a:rPr sz="1050" b="0">
                <a:solidFill>
                  <a:srgbClr val="5B6B67"/>
                </a:solidFill>
                <a:latin typeface="华文中宋"/>
                <a:ea typeface="华文中宋"/>
                <a:cs typeface="华文中宋"/>
              </a:rPr>
              <a:t>通过复测确认是否真正理解</a:t>
            </a:r>
          </a:p>
        </p:txBody>
      </p:sp>
      <p:sp>
        <p:nvSpPr>
          <p:cNvPr id="94" name="s4-dh-0">
            <a:extLst xmlns:a="http://schemas.openxmlformats.org/drawingml/2006/main">
              <a:ext uri="{FF2B5EF4-FFF2-40B4-BE49-F238E27FC236}">
                <a16:creationId xmlns:a16="http://schemas.microsoft.com/office/drawing/2014/main" id="{0F34FA03-770F-49D7-B27E-D95020ED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8120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F6BFF"/>
                </a:solidFill>
                <a:latin typeface="华文中宋"/>
                <a:ea typeface="华文中宋"/>
                <a:cs typeface="华文中宋"/>
              </a:defRPr>
            </a:pPr>
            <a:r>
              <a:rPr sz="1200" b="0">
                <a:solidFill>
                  <a:srgbClr val="2F6BFF"/>
                </a:solidFill>
                <a:latin typeface="华文中宋"/>
                <a:ea typeface="华文中宋"/>
                <a:cs typeface="华文中宋"/>
              </a:rPr>
              <a:t>课程 / 教师数据</a:t>
            </a:r>
          </a:p>
        </p:txBody>
      </p:sp>
      <p:sp>
        <p:nvSpPr>
          <p:cNvPr id="95" name="s4-db-0">
            <a:extLst xmlns:a="http://schemas.openxmlformats.org/drawingml/2006/main">
              <a:ext uri="{FF2B5EF4-FFF2-40B4-BE49-F238E27FC236}">
                <a16:creationId xmlns:a16="http://schemas.microsoft.com/office/drawing/2014/main" id="{2139C3F2-B09B-443F-BD77-492ABF87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66950"/>
            <a:ext cx="31051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2302C"/>
                </a:solidFill>
                <a:latin typeface="华文中宋"/>
                <a:ea typeface="华文中宋"/>
                <a:cs typeface="华文中宋"/>
              </a:defRPr>
            </a:pPr>
            <a:r>
              <a:rPr sz="1125" b="0">
                <a:solidFill>
                  <a:srgbClr val="22302C"/>
                </a:solidFill>
                <a:latin typeface="华文中宋"/>
                <a:ea typeface="华文中宋"/>
                <a:cs typeface="华文中宋"/>
              </a:rPr>
              <a:t>课件页、章节、知识点、时间戳、教师术语、微型题目</a:t>
            </a:r>
          </a:p>
        </p:txBody>
      </p:sp>
      <p:sp>
        <p:nvSpPr>
          <p:cNvPr id="96" name="s4-dh-1">
            <a:extLst xmlns:a="http://schemas.openxmlformats.org/drawingml/2006/main">
              <a:ext uri="{FF2B5EF4-FFF2-40B4-BE49-F238E27FC236}">
                <a16:creationId xmlns:a16="http://schemas.microsoft.com/office/drawing/2014/main" id="{A7F15B24-366F-4567-B22D-68FF3B0E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5275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0A58A"/>
                </a:solidFill>
                <a:latin typeface="华文中宋"/>
                <a:ea typeface="华文中宋"/>
                <a:cs typeface="华文中宋"/>
              </a:defRPr>
            </a:pPr>
            <a:r>
              <a:rPr sz="1200" b="0">
                <a:solidFill>
                  <a:srgbClr val="10A58A"/>
                </a:solidFill>
                <a:latin typeface="华文中宋"/>
                <a:ea typeface="华文中宋"/>
                <a:cs typeface="华文中宋"/>
              </a:rPr>
              <a:t>学生主动行为</a:t>
            </a:r>
          </a:p>
        </p:txBody>
      </p:sp>
      <p:sp>
        <p:nvSpPr>
          <p:cNvPr id="97" name="s4-db-1">
            <a:extLst xmlns:a="http://schemas.openxmlformats.org/drawingml/2006/main">
              <a:ext uri="{FF2B5EF4-FFF2-40B4-BE49-F238E27FC236}">
                <a16:creationId xmlns:a16="http://schemas.microsoft.com/office/drawing/2014/main" id="{A6D289E0-9243-487D-AC46-D4066B2C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38500"/>
            <a:ext cx="31051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5F7F3"/>
          </a:solidFill>
          <a:ln xmlns:a="http://schemas.openxmlformats.org/drawingml/2006/main" w="9525">
            <a:solidFill>
              <a:srgbClr val="10A58A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2302C"/>
                </a:solidFill>
                <a:latin typeface="华文中宋"/>
                <a:ea typeface="华文中宋"/>
                <a:cs typeface="华文中宋"/>
              </a:defRPr>
            </a:pPr>
            <a:r>
              <a:rPr sz="1125" b="0">
                <a:solidFill>
                  <a:srgbClr val="22302C"/>
                </a:solidFill>
                <a:latin typeface="华文中宋"/>
                <a:ea typeface="华文中宋"/>
                <a:cs typeface="华文中宋"/>
              </a:rPr>
              <a:t>答案、作答耗时、提问、提示使用、前后测、自评理解</a:t>
            </a:r>
          </a:p>
        </p:txBody>
      </p:sp>
      <p:sp>
        <p:nvSpPr>
          <p:cNvPr id="98" name="s4-dh-2">
            <a:extLst xmlns:a="http://schemas.openxmlformats.org/drawingml/2006/main">
              <a:ext uri="{FF2B5EF4-FFF2-40B4-BE49-F238E27FC236}">
                <a16:creationId xmlns:a16="http://schemas.microsoft.com/office/drawing/2014/main" id="{22701914-D695-4D24-B4CA-D252BEB1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2430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87822"/>
                </a:solidFill>
                <a:latin typeface="华文中宋"/>
                <a:ea typeface="华文中宋"/>
                <a:cs typeface="华文中宋"/>
              </a:defRPr>
            </a:pPr>
            <a:r>
              <a:rPr sz="1200" b="0">
                <a:solidFill>
                  <a:srgbClr val="E87822"/>
                </a:solidFill>
                <a:latin typeface="华文中宋"/>
                <a:ea typeface="华文中宋"/>
                <a:cs typeface="华文中宋"/>
              </a:rPr>
              <a:t>系统派生状态</a:t>
            </a:r>
          </a:p>
        </p:txBody>
      </p:sp>
      <p:sp>
        <p:nvSpPr>
          <p:cNvPr id="99" name="s4-db-2">
            <a:extLst xmlns:a="http://schemas.openxmlformats.org/drawingml/2006/main">
              <a:ext uri="{FF2B5EF4-FFF2-40B4-BE49-F238E27FC236}">
                <a16:creationId xmlns:a16="http://schemas.microsoft.com/office/drawing/2014/main" id="{9F5BDC63-2A46-44A4-BA2C-C6E1D3C0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10050"/>
            <a:ext cx="31051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9525">
            <a:solidFill>
              <a:srgbClr val="E87822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2302C"/>
                </a:solidFill>
                <a:latin typeface="华文中宋"/>
                <a:ea typeface="华文中宋"/>
                <a:cs typeface="华文中宋"/>
              </a:defRPr>
            </a:pPr>
            <a:r>
              <a:rPr sz="1125" b="0">
                <a:solidFill>
                  <a:srgbClr val="22302C"/>
                </a:solidFill>
                <a:latin typeface="华文中宋"/>
                <a:ea typeface="华文中宋"/>
                <a:cs typeface="华文中宋"/>
              </a:rPr>
              <a:t>掌握度、误区标签、影响人数、紧急度、修复增益</a:t>
            </a:r>
          </a:p>
        </p:txBody>
      </p:sp>
      <p:sp>
        <p:nvSpPr>
          <p:cNvPr id="100" name="s4-frequency">
            <a:extLst xmlns:a="http://schemas.openxmlformats.org/drawingml/2006/main">
              <a:ext uri="{FF2B5EF4-FFF2-40B4-BE49-F238E27FC236}">
                <a16:creationId xmlns:a16="http://schemas.microsoft.com/office/drawing/2014/main" id="{ABCA10B4-27AE-418B-A4BB-9FC2E78F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53000"/>
            <a:ext cx="3105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9F5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75642"/>
                </a:solidFill>
                <a:latin typeface="华文中宋"/>
                <a:ea typeface="华文中宋"/>
                <a:cs typeface="华文中宋"/>
              </a:defRPr>
            </a:pPr>
            <a:r>
              <a:rPr sz="1275" b="0">
                <a:solidFill>
                  <a:srgbClr val="075642"/>
                </a:solidFill>
                <a:latin typeface="华文中宋"/>
                <a:ea typeface="华文中宋"/>
                <a:cs typeface="华文中宋"/>
              </a:rPr>
              <a:t>90 分钟课堂仅需 3–5 次低频微交互</a:t>
            </a:r>
          </a:p>
        </p:txBody>
      </p:sp>
      <p:sp>
        <p:nvSpPr>
          <p:cNvPr id="101" name="s4-privacy">
            <a:extLst xmlns:a="http://schemas.openxmlformats.org/drawingml/2006/main">
              <a:ext uri="{FF2B5EF4-FFF2-40B4-BE49-F238E27FC236}">
                <a16:creationId xmlns:a16="http://schemas.microsoft.com/office/drawing/2014/main" id="{E3BE8BC5-2284-47E6-A416-3CE153D6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591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华文中宋"/>
                <a:ea typeface="华文中宋"/>
                <a:cs typeface="华文中宋"/>
              </a:defRPr>
            </a:pPr>
            <a:r>
              <a:rPr sz="1350" b="0">
                <a:solidFill>
                  <a:srgbClr val="FFFFFF"/>
                </a:solidFill>
                <a:latin typeface="华文中宋"/>
                <a:ea typeface="华文中宋"/>
                <a:cs typeface="华文中宋"/>
              </a:rPr>
              <a:t>MVP 隐私边界：不采集摄像头、麦克风、GPS、面部表情或传感器数据</a:t>
            </a:r>
          </a:p>
        </p:txBody>
      </p:sp>
    </p:spTree>
    <p:extLst>
      <p:ext uri="{BB962C8B-B14F-4D97-AF65-F5344CB8AC3E}">
        <p14:creationId xmlns:p14="http://schemas.microsoft.com/office/powerpoint/2010/main" val="12633976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F117C0F-E7F4-4D5C-BB43-A4D8BD73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" cy="589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5B"/>
          </a:solidFill>
          <a:ln xmlns:a="http://schemas.openxmlformats.org/drawingml/2006/main" w="12700">
            <a:solidFill>
              <a:srgbClr val="0077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E009F24-73E1-45D9-9D70-07F576E3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" y="0"/>
            <a:ext cx="66751" cy="589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513"/>
          </a:solidFill>
          <a:ln xmlns:a="http://schemas.openxmlformats.org/drawingml/2006/main" w="12700">
            <a:solidFill>
              <a:srgbClr val="D5651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94E68C4-B416-4094-8B3E-C5D20A96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175" b="1">
                <a:solidFill>
                  <a:srgbClr val="2230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302C"/>
                </a:solidFill>
                <a:latin typeface="Microsoft YaHei"/>
                <a:ea typeface="Microsoft YaHei"/>
                <a:cs typeface="Microsoft YaHei"/>
              </a:rPr>
              <a:t>学生端与教师端：每一步都有明确动作</a:t>
            </a:r>
            <a:endParaRPr sz="22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C8E3E1E-D162-480D-ACF3-7143CA9C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589788"/>
            <a:ext cx="1111910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9D3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28d36f5ee542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48672" y="137160"/>
            <a:ext cx="1563624" cy="342900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8345B79-378D-494F-B609-CDDD4874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8952"/>
            <a:ext cx="42976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75" b="0">
                <a:solidFill>
                  <a:srgbClr val="E8782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E87822"/>
                </a:solidFill>
                <a:latin typeface="Arial"/>
                <a:ea typeface="Arial"/>
                <a:cs typeface="Arial"/>
              </a:rPr>
              <a:t>STUDENT EXPERIENCE + TEACHER DECISION FLOW</a:t>
            </a:r>
            <a:endParaRPr sz="105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5D0546EF-DE48-416B-89FF-238A577C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2590"/>
            <a:ext cx="11810390" cy="305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5B"/>
          </a:solidFill>
          <a:ln xmlns:a="http://schemas.openxmlformats.org/drawingml/2006/main" w="12700">
            <a:solidFill>
              <a:srgbClr val="0077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815C79B4-C8D7-454F-BD32-B68D8778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0390" y="6552590"/>
            <a:ext cx="381305" cy="305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513"/>
          </a:solidFill>
          <a:ln xmlns:a="http://schemas.openxmlformats.org/drawingml/2006/main" w="12700">
            <a:solidFill>
              <a:srgbClr val="D5651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3BB2140-24C2-4FA8-B095-EC5742EF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583680"/>
            <a:ext cx="24688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格物致知 · 守正创新</a:t>
            </a:r>
            <a:endParaRPr sz="92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FD4010A-2D10-4308-B2B0-41A5EB1E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6583680"/>
            <a:ext cx="3703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CLASSLOOP · SUMMER TERM PROPOSAL</a:t>
            </a:r>
            <a:endParaRPr sz="87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9823C2A-D71C-409A-89C8-FB061C52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2336" y="6565392"/>
            <a:ext cx="329184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5</a:t>
            </a:r>
            <a:endParaRPr sz="950"/>
          </a:p>
        </p:txBody>
      </p:sp>
      <p:sp>
        <p:nvSpPr>
          <p:cNvPr id="74" name="s5-intro">
            <a:extLst xmlns:a="http://schemas.openxmlformats.org/drawingml/2006/main">
              <a:ext uri="{FF2B5EF4-FFF2-40B4-BE49-F238E27FC236}">
                <a16:creationId xmlns:a16="http://schemas.microsoft.com/office/drawing/2014/main" id="{68C7F622-CB2F-4E50-884E-B349591C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59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B67"/>
                </a:solidFill>
                <a:latin typeface="华文中宋"/>
                <a:ea typeface="华文中宋"/>
                <a:cs typeface="华文中宋"/>
              </a:defRPr>
            </a:pPr>
            <a:r>
              <a:rPr sz="1350" b="0">
                <a:solidFill>
                  <a:srgbClr val="5B6B67"/>
                </a:solidFill>
                <a:latin typeface="华文中宋"/>
                <a:ea typeface="华文中宋"/>
                <a:cs typeface="华文中宋"/>
              </a:rPr>
              <a:t>不是再做一个聊天框，而是让学生学习动作与教师课堂决策在同一 Session 中前后对应。</a:t>
            </a:r>
          </a:p>
        </p:txBody>
      </p:sp>
      <p:sp>
        <p:nvSpPr>
          <p:cNvPr id="75" name="s5-student-label">
            <a:extLst xmlns:a="http://schemas.openxmlformats.org/drawingml/2006/main">
              <a:ext uri="{FF2B5EF4-FFF2-40B4-BE49-F238E27FC236}">
                <a16:creationId xmlns:a16="http://schemas.microsoft.com/office/drawing/2014/main" id="{CEA6D3F7-F1A0-410A-AB43-CF04F64B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476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华文中宋"/>
                <a:ea typeface="华文中宋"/>
                <a:cs typeface="华文中宋"/>
              </a:defRPr>
            </a:pPr>
            <a:r>
              <a:rPr sz="1350" b="0">
                <a:solidFill>
                  <a:srgbClr val="FFFFFF"/>
                </a:solidFill>
                <a:latin typeface="华文中宋"/>
                <a:ea typeface="华文中宋"/>
                <a:cs typeface="华文中宋"/>
              </a:rPr>
              <a:t>学生端｜暴露理解证据</a:t>
            </a:r>
          </a:p>
        </p:txBody>
      </p:sp>
      <p:sp>
        <p:nvSpPr>
          <p:cNvPr id="76" name="s5-teacher-label">
            <a:extLst xmlns:a="http://schemas.openxmlformats.org/drawingml/2006/main">
              <a:ext uri="{FF2B5EF4-FFF2-40B4-BE49-F238E27FC236}">
                <a16:creationId xmlns:a16="http://schemas.microsoft.com/office/drawing/2014/main" id="{8FAD4364-99F6-4110-A45A-74299054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2476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56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华文中宋"/>
                <a:ea typeface="华文中宋"/>
                <a:cs typeface="华文中宋"/>
              </a:defRPr>
            </a:pPr>
            <a:r>
              <a:rPr sz="1350" b="0">
                <a:solidFill>
                  <a:srgbClr val="FFFFFF"/>
                </a:solidFill>
                <a:latin typeface="华文中宋"/>
                <a:ea typeface="华文中宋"/>
                <a:cs typeface="华文中宋"/>
              </a:rPr>
              <a:t>教师端｜作出教学决策</a:t>
            </a:r>
          </a:p>
        </p:txBody>
      </p:sp>
      <p:sp>
        <p:nvSpPr>
          <p:cNvPr id="77" name="s5-s-n-0">
            <a:extLst xmlns:a="http://schemas.openxmlformats.org/drawingml/2006/main">
              <a:ext uri="{FF2B5EF4-FFF2-40B4-BE49-F238E27FC236}">
                <a16:creationId xmlns:a16="http://schemas.microsoft.com/office/drawing/2014/main" id="{34A50BBA-2204-46A0-969A-32EEDAED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953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8" name="s5-s-h-0">
            <a:extLst xmlns:a="http://schemas.openxmlformats.org/drawingml/2006/main">
              <a:ext uri="{FF2B5EF4-FFF2-40B4-BE49-F238E27FC236}">
                <a16:creationId xmlns:a16="http://schemas.microsoft.com/office/drawing/2014/main" id="{9F8A1F8A-F079-4120-9614-14C35857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F6BFF"/>
                </a:solidFill>
                <a:latin typeface="华文中宋"/>
                <a:ea typeface="华文中宋"/>
                <a:cs typeface="华文中宋"/>
              </a:defRPr>
            </a:pPr>
            <a:r>
              <a:rPr sz="1350" b="0">
                <a:solidFill>
                  <a:srgbClr val="2F6BFF"/>
                </a:solidFill>
                <a:latin typeface="华文中宋"/>
                <a:ea typeface="华文中宋"/>
                <a:cs typeface="华文中宋"/>
              </a:rPr>
              <a:t>进入 Session</a:t>
            </a:r>
          </a:p>
        </p:txBody>
      </p:sp>
      <p:sp>
        <p:nvSpPr>
          <p:cNvPr id="79" name="s5-s-b-0">
            <a:extLst xmlns:a="http://schemas.openxmlformats.org/drawingml/2006/main">
              <a:ext uri="{FF2B5EF4-FFF2-40B4-BE49-F238E27FC236}">
                <a16:creationId xmlns:a16="http://schemas.microsoft.com/office/drawing/2014/main" id="{4C2687CC-D6C6-4BF5-923A-6616A841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2324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2302C"/>
                </a:solidFill>
                <a:latin typeface="华文中宋"/>
                <a:ea typeface="华文中宋"/>
                <a:cs typeface="华文中宋"/>
              </a:defRPr>
            </a:pPr>
            <a:r>
              <a:rPr sz="1125" b="0">
                <a:solidFill>
                  <a:srgbClr val="22302C"/>
                </a:solidFill>
                <a:latin typeface="华文中宋"/>
                <a:ea typeface="华文中宋"/>
                <a:cs typeface="华文中宋"/>
              </a:rPr>
              <a:t>看到当前课件位置与知识点</a:t>
            </a:r>
          </a:p>
        </p:txBody>
      </p:sp>
      <p:sp>
        <p:nvSpPr>
          <p:cNvPr id="80" name="s5-s-a-0">
            <a:extLst xmlns:a="http://schemas.openxmlformats.org/drawingml/2006/main">
              <a:ext uri="{FF2B5EF4-FFF2-40B4-BE49-F238E27FC236}">
                <a16:creationId xmlns:a16="http://schemas.microsoft.com/office/drawing/2014/main" id="{4DEE7CD9-D197-4C0F-B927-43BB34FC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57475"/>
            <a:ext cx="28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F6BFF"/>
                </a:solidFill>
                <a:latin typeface="华文中宋"/>
                <a:ea typeface="华文中宋"/>
                <a:cs typeface="华文中宋"/>
              </a:defRPr>
            </a:pPr>
            <a:r>
              <a:rPr sz="1800" b="0">
                <a:solidFill>
                  <a:srgbClr val="2F6BFF"/>
                </a:solidFill>
                <a:latin typeface="华文中宋"/>
                <a:ea typeface="华文中宋"/>
                <a:cs typeface="华文中宋"/>
              </a:rPr>
              <a:t>→</a:t>
            </a:r>
          </a:p>
        </p:txBody>
      </p:sp>
      <p:sp>
        <p:nvSpPr>
          <p:cNvPr id="81" name="s5-s-n-1">
            <a:extLst xmlns:a="http://schemas.openxmlformats.org/drawingml/2006/main">
              <a:ext uri="{FF2B5EF4-FFF2-40B4-BE49-F238E27FC236}">
                <a16:creationId xmlns:a16="http://schemas.microsoft.com/office/drawing/2014/main" id="{DCB60BF8-C47B-4681-B022-E83FDA78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38350"/>
            <a:ext cx="4953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2" name="s5-s-h-1">
            <a:extLst xmlns:a="http://schemas.openxmlformats.org/drawingml/2006/main">
              <a:ext uri="{FF2B5EF4-FFF2-40B4-BE49-F238E27FC236}">
                <a16:creationId xmlns:a16="http://schemas.microsoft.com/office/drawing/2014/main" id="{4949BA39-1316-46B0-A812-9D466F3D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003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F6BFF"/>
                </a:solidFill>
                <a:latin typeface="Arial"/>
                <a:ea typeface="Arial"/>
                <a:cs typeface="Arial"/>
              </a:rPr>
              <a:t>Micro Check</a:t>
            </a:r>
          </a:p>
        </p:txBody>
      </p:sp>
      <p:sp>
        <p:nvSpPr>
          <p:cNvPr id="83" name="s5-s-b-1">
            <a:extLst xmlns:a="http://schemas.openxmlformats.org/drawingml/2006/main">
              <a:ext uri="{FF2B5EF4-FFF2-40B4-BE49-F238E27FC236}">
                <a16:creationId xmlns:a16="http://schemas.microsoft.com/office/drawing/2014/main" id="{75984BFA-159D-44B1-BEC0-FD15E4A1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43200"/>
            <a:ext cx="2324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2302C"/>
                </a:solidFill>
                <a:latin typeface="华文中宋"/>
                <a:ea typeface="华文中宋"/>
                <a:cs typeface="华文中宋"/>
              </a:defRPr>
            </a:pPr>
            <a:r>
              <a:rPr sz="1125" b="0">
                <a:solidFill>
                  <a:srgbClr val="22302C"/>
                </a:solidFill>
                <a:latin typeface="华文中宋"/>
                <a:ea typeface="华文中宋"/>
                <a:cs typeface="华文中宋"/>
              </a:rPr>
              <a:t>10–30 秒完成选择、判断或简答</a:t>
            </a:r>
          </a:p>
        </p:txBody>
      </p:sp>
      <p:sp>
        <p:nvSpPr>
          <p:cNvPr id="84" name="s5-s-a-1">
            <a:extLst xmlns:a="http://schemas.openxmlformats.org/drawingml/2006/main">
              <a:ext uri="{FF2B5EF4-FFF2-40B4-BE49-F238E27FC236}">
                <a16:creationId xmlns:a16="http://schemas.microsoft.com/office/drawing/2014/main" id="{FCE6E1D7-D665-4082-9E14-038E48C6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57475"/>
            <a:ext cx="28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F6BFF"/>
                </a:solidFill>
                <a:latin typeface="华文中宋"/>
                <a:ea typeface="华文中宋"/>
                <a:cs typeface="华文中宋"/>
              </a:defRPr>
            </a:pPr>
            <a:r>
              <a:rPr sz="1800" b="0">
                <a:solidFill>
                  <a:srgbClr val="2F6BFF"/>
                </a:solidFill>
                <a:latin typeface="华文中宋"/>
                <a:ea typeface="华文中宋"/>
                <a:cs typeface="华文中宋"/>
              </a:rPr>
              <a:t>→</a:t>
            </a:r>
          </a:p>
        </p:txBody>
      </p:sp>
      <p:sp>
        <p:nvSpPr>
          <p:cNvPr id="85" name="s5-s-n-2">
            <a:extLst xmlns:a="http://schemas.openxmlformats.org/drawingml/2006/main">
              <a:ext uri="{FF2B5EF4-FFF2-40B4-BE49-F238E27FC236}">
                <a16:creationId xmlns:a16="http://schemas.microsoft.com/office/drawing/2014/main" id="{78B51941-B949-4397-8016-0529C38A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38350"/>
            <a:ext cx="4953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6" name="s5-s-h-2">
            <a:extLst xmlns:a="http://schemas.openxmlformats.org/drawingml/2006/main">
              <a:ext uri="{FF2B5EF4-FFF2-40B4-BE49-F238E27FC236}">
                <a16:creationId xmlns:a16="http://schemas.microsoft.com/office/drawing/2014/main" id="{AC799197-27BA-42D9-9588-978359FA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003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F6BFF"/>
                </a:solidFill>
                <a:latin typeface="华文中宋"/>
                <a:ea typeface="华文中宋"/>
                <a:cs typeface="华文中宋"/>
              </a:defRPr>
            </a:pPr>
            <a:r>
              <a:rPr sz="1350" b="0">
                <a:solidFill>
                  <a:srgbClr val="2F6BFF"/>
                </a:solidFill>
                <a:latin typeface="华文中宋"/>
                <a:ea typeface="华文中宋"/>
                <a:cs typeface="华文中宋"/>
              </a:rPr>
              <a:t>针对性解释</a:t>
            </a:r>
          </a:p>
        </p:txBody>
      </p:sp>
      <p:sp>
        <p:nvSpPr>
          <p:cNvPr id="87" name="s5-s-b-2">
            <a:extLst xmlns:a="http://schemas.openxmlformats.org/drawingml/2006/main">
              <a:ext uri="{FF2B5EF4-FFF2-40B4-BE49-F238E27FC236}">
                <a16:creationId xmlns:a16="http://schemas.microsoft.com/office/drawing/2014/main" id="{A74A6443-4C14-46A0-97C8-A31D631C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43200"/>
            <a:ext cx="2324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2302C"/>
                </a:solidFill>
                <a:latin typeface="华文中宋"/>
                <a:ea typeface="华文中宋"/>
                <a:cs typeface="华文中宋"/>
              </a:defRPr>
            </a:pPr>
            <a:r>
              <a:rPr sz="1125" b="0">
                <a:solidFill>
                  <a:srgbClr val="22302C"/>
                </a:solidFill>
                <a:latin typeface="华文中宋"/>
                <a:ea typeface="华文中宋"/>
                <a:cs typeface="华文中宋"/>
              </a:rPr>
              <a:t>按教师策略获得提示、反例或解析</a:t>
            </a:r>
          </a:p>
        </p:txBody>
      </p:sp>
      <p:sp>
        <p:nvSpPr>
          <p:cNvPr id="88" name="s5-s-a-2">
            <a:extLst xmlns:a="http://schemas.openxmlformats.org/drawingml/2006/main">
              <a:ext uri="{FF2B5EF4-FFF2-40B4-BE49-F238E27FC236}">
                <a16:creationId xmlns:a16="http://schemas.microsoft.com/office/drawing/2014/main" id="{3F0D3B5B-8A11-472C-A068-AA989DED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57475"/>
            <a:ext cx="28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F6BFF"/>
                </a:solidFill>
                <a:latin typeface="华文中宋"/>
                <a:ea typeface="华文中宋"/>
                <a:cs typeface="华文中宋"/>
              </a:defRPr>
            </a:pPr>
            <a:r>
              <a:rPr sz="1800" b="0">
                <a:solidFill>
                  <a:srgbClr val="2F6BFF"/>
                </a:solidFill>
                <a:latin typeface="华文中宋"/>
                <a:ea typeface="华文中宋"/>
                <a:cs typeface="华文中宋"/>
              </a:rPr>
              <a:t>→</a:t>
            </a:r>
          </a:p>
        </p:txBody>
      </p:sp>
      <p:sp>
        <p:nvSpPr>
          <p:cNvPr id="89" name="s5-s-n-3">
            <a:extLst xmlns:a="http://schemas.openxmlformats.org/drawingml/2006/main">
              <a:ext uri="{FF2B5EF4-FFF2-40B4-BE49-F238E27FC236}">
                <a16:creationId xmlns:a16="http://schemas.microsoft.com/office/drawing/2014/main" id="{A4A53060-04AC-4F35-8E2F-E019B065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38350"/>
            <a:ext cx="4953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0" name="s5-s-h-3">
            <a:extLst xmlns:a="http://schemas.openxmlformats.org/drawingml/2006/main">
              <a:ext uri="{FF2B5EF4-FFF2-40B4-BE49-F238E27FC236}">
                <a16:creationId xmlns:a16="http://schemas.microsoft.com/office/drawing/2014/main" id="{6684EB0F-3AF9-4223-BA2D-7E9D8B96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003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F6BFF"/>
                </a:solidFill>
                <a:latin typeface="华文中宋"/>
                <a:ea typeface="华文中宋"/>
                <a:cs typeface="华文中宋"/>
              </a:defRPr>
            </a:pPr>
            <a:r>
              <a:rPr sz="1350" b="0">
                <a:solidFill>
                  <a:srgbClr val="2F6BFF"/>
                </a:solidFill>
                <a:latin typeface="华文中宋"/>
                <a:ea typeface="华文中宋"/>
                <a:cs typeface="华文中宋"/>
              </a:rPr>
              <a:t>完成复测</a:t>
            </a:r>
          </a:p>
        </p:txBody>
      </p:sp>
      <p:sp>
        <p:nvSpPr>
          <p:cNvPr id="91" name="s5-s-b-3">
            <a:extLst xmlns:a="http://schemas.openxmlformats.org/drawingml/2006/main">
              <a:ext uri="{FF2B5EF4-FFF2-40B4-BE49-F238E27FC236}">
                <a16:creationId xmlns:a16="http://schemas.microsoft.com/office/drawing/2014/main" id="{4B64B936-3273-4973-8D25-DFABE5B9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43200"/>
            <a:ext cx="2324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2302C"/>
                </a:solidFill>
                <a:latin typeface="华文中宋"/>
                <a:ea typeface="华文中宋"/>
                <a:cs typeface="华文中宋"/>
              </a:defRPr>
            </a:pPr>
            <a:r>
              <a:rPr sz="1125" b="0">
                <a:solidFill>
                  <a:srgbClr val="22302C"/>
                </a:solidFill>
                <a:latin typeface="华文中宋"/>
                <a:ea typeface="华文中宋"/>
                <a:cs typeface="华文中宋"/>
              </a:rPr>
              <a:t>看到本次理解状态是否更新</a:t>
            </a:r>
          </a:p>
        </p:txBody>
      </p:sp>
      <p:sp>
        <p:nvSpPr>
          <p:cNvPr id="92" name="s5-t-n-0">
            <a:extLst xmlns:a="http://schemas.openxmlformats.org/drawingml/2006/main">
              <a:ext uri="{FF2B5EF4-FFF2-40B4-BE49-F238E27FC236}">
                <a16:creationId xmlns:a16="http://schemas.microsoft.com/office/drawing/2014/main" id="{42262F9A-5664-45A7-87E2-9A293EBA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953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87A5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3" name="s5-t-h-0">
            <a:extLst xmlns:a="http://schemas.openxmlformats.org/drawingml/2006/main">
              <a:ext uri="{FF2B5EF4-FFF2-40B4-BE49-F238E27FC236}">
                <a16:creationId xmlns:a16="http://schemas.microsoft.com/office/drawing/2014/main" id="{1CB77A50-9FC4-4194-9521-36B2D9FB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87A5B"/>
                </a:solidFill>
                <a:latin typeface="华文中宋"/>
                <a:ea typeface="华文中宋"/>
                <a:cs typeface="华文中宋"/>
              </a:defRPr>
            </a:pPr>
            <a:r>
              <a:rPr sz="1350" b="0">
                <a:solidFill>
                  <a:srgbClr val="087A5B"/>
                </a:solidFill>
                <a:latin typeface="华文中宋"/>
                <a:ea typeface="华文中宋"/>
                <a:cs typeface="华文中宋"/>
              </a:rPr>
              <a:t>发起 Session</a:t>
            </a:r>
          </a:p>
        </p:txBody>
      </p:sp>
      <p:sp>
        <p:nvSpPr>
          <p:cNvPr id="94" name="s5-t-b-0">
            <a:extLst xmlns:a="http://schemas.openxmlformats.org/drawingml/2006/main">
              <a:ext uri="{FF2B5EF4-FFF2-40B4-BE49-F238E27FC236}">
                <a16:creationId xmlns:a16="http://schemas.microsoft.com/office/drawing/2014/main" id="{9EE15C2D-F92D-499C-AD7D-26EF2A99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2324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9F5F1"/>
          </a:solidFill>
          <a:ln xmlns:a="http://schemas.openxmlformats.org/drawingml/2006/main" w="9525">
            <a:solidFill>
              <a:srgbClr val="087A5B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2302C"/>
                </a:solidFill>
                <a:latin typeface="华文中宋"/>
                <a:ea typeface="华文中宋"/>
                <a:cs typeface="华文中宋"/>
              </a:defRPr>
            </a:pPr>
            <a:r>
              <a:rPr sz="1125" b="0">
                <a:solidFill>
                  <a:srgbClr val="22302C"/>
                </a:solidFill>
                <a:latin typeface="华文中宋"/>
                <a:ea typeface="华文中宋"/>
                <a:cs typeface="华文中宋"/>
              </a:rPr>
              <a:t>绑定课程材料并设置课堂策略</a:t>
            </a:r>
          </a:p>
        </p:txBody>
      </p:sp>
      <p:sp>
        <p:nvSpPr>
          <p:cNvPr id="95" name="s5-t-a-0">
            <a:extLst xmlns:a="http://schemas.openxmlformats.org/drawingml/2006/main">
              <a:ext uri="{FF2B5EF4-FFF2-40B4-BE49-F238E27FC236}">
                <a16:creationId xmlns:a16="http://schemas.microsoft.com/office/drawing/2014/main" id="{E226669E-92A6-44FF-87D5-1E03CB58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86325"/>
            <a:ext cx="28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87A5B"/>
                </a:solidFill>
                <a:latin typeface="华文中宋"/>
                <a:ea typeface="华文中宋"/>
                <a:cs typeface="华文中宋"/>
              </a:defRPr>
            </a:pPr>
            <a:r>
              <a:rPr sz="1800" b="0">
                <a:solidFill>
                  <a:srgbClr val="087A5B"/>
                </a:solidFill>
                <a:latin typeface="华文中宋"/>
                <a:ea typeface="华文中宋"/>
                <a:cs typeface="华文中宋"/>
              </a:rPr>
              <a:t>→</a:t>
            </a:r>
          </a:p>
        </p:txBody>
      </p:sp>
      <p:sp>
        <p:nvSpPr>
          <p:cNvPr id="96" name="s5-t-n-1">
            <a:extLst xmlns:a="http://schemas.openxmlformats.org/drawingml/2006/main">
              <a:ext uri="{FF2B5EF4-FFF2-40B4-BE49-F238E27FC236}">
                <a16:creationId xmlns:a16="http://schemas.microsoft.com/office/drawing/2014/main" id="{AD3B6728-02FA-455C-BC6E-5DB2C908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67200"/>
            <a:ext cx="4953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87A5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7" name="s5-t-h-1">
            <a:extLst xmlns:a="http://schemas.openxmlformats.org/drawingml/2006/main">
              <a:ext uri="{FF2B5EF4-FFF2-40B4-BE49-F238E27FC236}">
                <a16:creationId xmlns:a16="http://schemas.microsoft.com/office/drawing/2014/main" id="{F84CBA4F-8126-4ECA-93CE-CD92E093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291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87A5B"/>
                </a:solidFill>
                <a:latin typeface="华文中宋"/>
                <a:ea typeface="华文中宋"/>
                <a:cs typeface="华文中宋"/>
              </a:defRPr>
            </a:pPr>
            <a:r>
              <a:rPr sz="1350" b="0">
                <a:solidFill>
                  <a:srgbClr val="087A5B"/>
                </a:solidFill>
                <a:latin typeface="华文中宋"/>
                <a:ea typeface="华文中宋"/>
                <a:cs typeface="华文中宋"/>
              </a:rPr>
              <a:t>查看班级误区</a:t>
            </a:r>
          </a:p>
        </p:txBody>
      </p:sp>
      <p:sp>
        <p:nvSpPr>
          <p:cNvPr id="98" name="s5-t-b-1">
            <a:extLst xmlns:a="http://schemas.openxmlformats.org/drawingml/2006/main">
              <a:ext uri="{FF2B5EF4-FFF2-40B4-BE49-F238E27FC236}">
                <a16:creationId xmlns:a16="http://schemas.microsoft.com/office/drawing/2014/main" id="{08B2391E-4B28-40B7-9D70-7F2EEA7B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72050"/>
            <a:ext cx="2324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9F5F1"/>
          </a:solidFill>
          <a:ln xmlns:a="http://schemas.openxmlformats.org/drawingml/2006/main" w="9525">
            <a:solidFill>
              <a:srgbClr val="087A5B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2302C"/>
                </a:solidFill>
                <a:latin typeface="华文中宋"/>
                <a:ea typeface="华文中宋"/>
                <a:cs typeface="华文中宋"/>
              </a:defRPr>
            </a:pPr>
            <a:r>
              <a:rPr sz="1125" b="0">
                <a:solidFill>
                  <a:srgbClr val="22302C"/>
                </a:solidFill>
                <a:latin typeface="华文中宋"/>
                <a:ea typeface="华文中宋"/>
                <a:cs typeface="华文中宋"/>
              </a:rPr>
              <a:t>读取 Top 误区、影响人数与证据</a:t>
            </a:r>
          </a:p>
        </p:txBody>
      </p:sp>
      <p:sp>
        <p:nvSpPr>
          <p:cNvPr id="99" name="s5-t-a-1">
            <a:extLst xmlns:a="http://schemas.openxmlformats.org/drawingml/2006/main">
              <a:ext uri="{FF2B5EF4-FFF2-40B4-BE49-F238E27FC236}">
                <a16:creationId xmlns:a16="http://schemas.microsoft.com/office/drawing/2014/main" id="{54172BC6-A95F-4077-AFDE-19716E43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886325"/>
            <a:ext cx="28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87A5B"/>
                </a:solidFill>
                <a:latin typeface="华文中宋"/>
                <a:ea typeface="华文中宋"/>
                <a:cs typeface="华文中宋"/>
              </a:defRPr>
            </a:pPr>
            <a:r>
              <a:rPr sz="1800" b="0">
                <a:solidFill>
                  <a:srgbClr val="087A5B"/>
                </a:solidFill>
                <a:latin typeface="华文中宋"/>
                <a:ea typeface="华文中宋"/>
                <a:cs typeface="华文中宋"/>
              </a:rPr>
              <a:t>→</a:t>
            </a:r>
          </a:p>
        </p:txBody>
      </p:sp>
      <p:sp>
        <p:nvSpPr>
          <p:cNvPr id="100" name="s5-t-n-2">
            <a:extLst xmlns:a="http://schemas.openxmlformats.org/drawingml/2006/main">
              <a:ext uri="{FF2B5EF4-FFF2-40B4-BE49-F238E27FC236}">
                <a16:creationId xmlns:a16="http://schemas.microsoft.com/office/drawing/2014/main" id="{FFF5D7B7-B059-4207-9ECE-A0F0FAD7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267200"/>
            <a:ext cx="4953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87A5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1" name="s5-t-h-2">
            <a:extLst xmlns:a="http://schemas.openxmlformats.org/drawingml/2006/main">
              <a:ext uri="{FF2B5EF4-FFF2-40B4-BE49-F238E27FC236}">
                <a16:creationId xmlns:a16="http://schemas.microsoft.com/office/drawing/2014/main" id="{0FA6229E-5056-4215-B417-CC5F319E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291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87A5B"/>
                </a:solidFill>
                <a:latin typeface="华文中宋"/>
                <a:ea typeface="华文中宋"/>
                <a:cs typeface="华文中宋"/>
              </a:defRPr>
            </a:pPr>
            <a:r>
              <a:rPr sz="1350" b="0">
                <a:solidFill>
                  <a:srgbClr val="087A5B"/>
                </a:solidFill>
                <a:latin typeface="华文中宋"/>
                <a:ea typeface="华文中宋"/>
                <a:cs typeface="华文中宋"/>
              </a:rPr>
              <a:t>选择干预方式</a:t>
            </a:r>
          </a:p>
        </p:txBody>
      </p:sp>
      <p:sp>
        <p:nvSpPr>
          <p:cNvPr id="102" name="s5-t-b-2">
            <a:extLst xmlns:a="http://schemas.openxmlformats.org/drawingml/2006/main">
              <a:ext uri="{FF2B5EF4-FFF2-40B4-BE49-F238E27FC236}">
                <a16:creationId xmlns:a16="http://schemas.microsoft.com/office/drawing/2014/main" id="{6FE97F5D-8272-456C-85D8-A5C85F1C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972050"/>
            <a:ext cx="2324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9F5F1"/>
          </a:solidFill>
          <a:ln xmlns:a="http://schemas.openxmlformats.org/drawingml/2006/main" w="9525">
            <a:solidFill>
              <a:srgbClr val="087A5B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2302C"/>
                </a:solidFill>
                <a:latin typeface="华文中宋"/>
                <a:ea typeface="华文中宋"/>
                <a:cs typeface="华文中宋"/>
              </a:defRPr>
            </a:pPr>
            <a:r>
              <a:rPr sz="1125" b="0">
                <a:solidFill>
                  <a:srgbClr val="22302C"/>
                </a:solidFill>
                <a:latin typeface="华文中宋"/>
                <a:ea typeface="华文中宋"/>
                <a:cs typeface="华文中宋"/>
              </a:rPr>
              <a:t>补讲、反例、提示或全班广播</a:t>
            </a:r>
          </a:p>
        </p:txBody>
      </p:sp>
      <p:sp>
        <p:nvSpPr>
          <p:cNvPr id="103" name="s5-t-a-2">
            <a:extLst xmlns:a="http://schemas.openxmlformats.org/drawingml/2006/main">
              <a:ext uri="{FF2B5EF4-FFF2-40B4-BE49-F238E27FC236}">
                <a16:creationId xmlns:a16="http://schemas.microsoft.com/office/drawing/2014/main" id="{CC1CC33E-08DF-48D6-B773-FECDB4E2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86325"/>
            <a:ext cx="28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87A5B"/>
                </a:solidFill>
                <a:latin typeface="华文中宋"/>
                <a:ea typeface="华文中宋"/>
                <a:cs typeface="华文中宋"/>
              </a:defRPr>
            </a:pPr>
            <a:r>
              <a:rPr sz="1800" b="0">
                <a:solidFill>
                  <a:srgbClr val="087A5B"/>
                </a:solidFill>
                <a:latin typeface="华文中宋"/>
                <a:ea typeface="华文中宋"/>
                <a:cs typeface="华文中宋"/>
              </a:rPr>
              <a:t>→</a:t>
            </a:r>
          </a:p>
        </p:txBody>
      </p:sp>
      <p:sp>
        <p:nvSpPr>
          <p:cNvPr id="104" name="s5-t-n-3">
            <a:extLst xmlns:a="http://schemas.openxmlformats.org/drawingml/2006/main">
              <a:ext uri="{FF2B5EF4-FFF2-40B4-BE49-F238E27FC236}">
                <a16:creationId xmlns:a16="http://schemas.microsoft.com/office/drawing/2014/main" id="{C384DFEF-0C02-4828-AB88-73BE879C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67200"/>
            <a:ext cx="4953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87A5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5" name="s5-t-h-3">
            <a:extLst xmlns:a="http://schemas.openxmlformats.org/drawingml/2006/main">
              <a:ext uri="{FF2B5EF4-FFF2-40B4-BE49-F238E27FC236}">
                <a16:creationId xmlns:a16="http://schemas.microsoft.com/office/drawing/2014/main" id="{51D76EC6-C4C0-49BF-AABA-29DF0716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291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87A5B"/>
                </a:solidFill>
                <a:latin typeface="华文中宋"/>
                <a:ea typeface="华文中宋"/>
                <a:cs typeface="华文中宋"/>
              </a:defRPr>
            </a:pPr>
            <a:r>
              <a:rPr sz="1350" b="0">
                <a:solidFill>
                  <a:srgbClr val="087A5B"/>
                </a:solidFill>
                <a:latin typeface="华文中宋"/>
                <a:ea typeface="华文中宋"/>
                <a:cs typeface="华文中宋"/>
              </a:rPr>
              <a:t>验证干预效果</a:t>
            </a:r>
          </a:p>
        </p:txBody>
      </p:sp>
      <p:sp>
        <p:nvSpPr>
          <p:cNvPr id="106" name="s5-t-b-3">
            <a:extLst xmlns:a="http://schemas.openxmlformats.org/drawingml/2006/main">
              <a:ext uri="{FF2B5EF4-FFF2-40B4-BE49-F238E27FC236}">
                <a16:creationId xmlns:a16="http://schemas.microsoft.com/office/drawing/2014/main" id="{3BD5CD77-348B-455D-81BE-1F5CEDBA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72050"/>
            <a:ext cx="2324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9F5F1"/>
          </a:solidFill>
          <a:ln xmlns:a="http://schemas.openxmlformats.org/drawingml/2006/main" w="9525">
            <a:solidFill>
              <a:srgbClr val="087A5B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2302C"/>
                </a:solidFill>
                <a:latin typeface="华文中宋"/>
                <a:ea typeface="华文中宋"/>
                <a:cs typeface="华文中宋"/>
              </a:defRPr>
            </a:pPr>
            <a:r>
              <a:rPr sz="1125" b="0">
                <a:solidFill>
                  <a:srgbClr val="22302C"/>
                </a:solidFill>
                <a:latin typeface="华文中宋"/>
                <a:ea typeface="华文中宋"/>
                <a:cs typeface="华文中宋"/>
              </a:rPr>
              <a:t>比较初测、复测与未修复范围</a:t>
            </a:r>
          </a:p>
        </p:txBody>
      </p:sp>
      <p:sp>
        <p:nvSpPr>
          <p:cNvPr id="107" name="s5-session">
            <a:extLst xmlns:a="http://schemas.openxmlformats.org/drawingml/2006/main">
              <a:ext uri="{FF2B5EF4-FFF2-40B4-BE49-F238E27FC236}">
                <a16:creationId xmlns:a16="http://schemas.microsoft.com/office/drawing/2014/main" id="{FF8610AD-BD76-4F4D-9D31-2A569BF7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29000"/>
            <a:ext cx="8115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9525">
            <a:solidFill>
              <a:srgbClr val="E87822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4213D"/>
                </a:solidFill>
                <a:latin typeface="华文中宋"/>
                <a:ea typeface="华文中宋"/>
                <a:cs typeface="华文中宋"/>
              </a:defRPr>
            </a:pPr>
            <a:r>
              <a:rPr sz="1200" b="0">
                <a:solidFill>
                  <a:srgbClr val="14213D"/>
                </a:solidFill>
                <a:latin typeface="华文中宋"/>
                <a:ea typeface="华文中宋"/>
                <a:cs typeface="华文中宋"/>
              </a:rPr>
              <a:t>同一 Session：学生每次作答都会更新班级误区；教师每次干预都会留下可复测的效果证据</a:t>
            </a:r>
          </a:p>
        </p:txBody>
      </p:sp>
      <p:sp>
        <p:nvSpPr>
          <p:cNvPr id="108" name="s5-close">
            <a:extLst xmlns:a="http://schemas.openxmlformats.org/drawingml/2006/main">
              <a:ext uri="{FF2B5EF4-FFF2-40B4-BE49-F238E27FC236}">
                <a16:creationId xmlns:a16="http://schemas.microsoft.com/office/drawing/2014/main" id="{1B0CCFC4-C583-472C-83C8-C0C54184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59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75642"/>
                </a:solidFill>
                <a:latin typeface="华文中宋"/>
                <a:ea typeface="华文中宋"/>
                <a:cs typeface="华文中宋"/>
              </a:defRPr>
            </a:pPr>
            <a:r>
              <a:rPr sz="1350" b="0">
                <a:solidFill>
                  <a:srgbClr val="075642"/>
                </a:solidFill>
                <a:latin typeface="华文中宋"/>
                <a:ea typeface="华文中宋"/>
                <a:cs typeface="华文中宋"/>
              </a:rPr>
              <a:t>产品价值不在“回答更多问题”，而在把个体学习过程转成教师可以立即使用的课堂反馈。</a:t>
            </a:r>
          </a:p>
        </p:txBody>
      </p:sp>
    </p:spTree>
    <p:extLst>
      <p:ext uri="{BB962C8B-B14F-4D97-AF65-F5344CB8AC3E}">
        <p14:creationId xmlns:p14="http://schemas.microsoft.com/office/powerpoint/2010/main" val="12267676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EDF86D0-3854-4A96-93F5-D59DE457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" cy="589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5B"/>
          </a:solidFill>
          <a:ln xmlns:a="http://schemas.openxmlformats.org/drawingml/2006/main" w="12700">
            <a:solidFill>
              <a:srgbClr val="0077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1D0B98D-56B4-4E42-A7AE-DB226DC6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" y="0"/>
            <a:ext cx="66751" cy="589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513"/>
          </a:solidFill>
          <a:ln xmlns:a="http://schemas.openxmlformats.org/drawingml/2006/main" w="12700">
            <a:solidFill>
              <a:srgbClr val="D5651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358B7CA-5BE3-490D-B8CA-2D685F1B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025" b="1">
                <a:solidFill>
                  <a:srgbClr val="2230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302C"/>
                </a:solidFill>
                <a:latin typeface="Microsoft YaHei"/>
                <a:ea typeface="Microsoft YaHei"/>
                <a:cs typeface="Microsoft YaHei"/>
              </a:rPr>
              <a:t>在 120 人大班课中，7 分钟完成一次认知闭环</a:t>
            </a:r>
            <a:endParaRPr sz="22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C7382DB-FBFB-4443-BF4D-FCC51E21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589788"/>
            <a:ext cx="1111910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9D3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2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b425feec6640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48672" y="137160"/>
            <a:ext cx="1563624" cy="342900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092742E9-4C6E-4AA0-92C1-3C97D792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8952"/>
            <a:ext cx="42976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75" b="0">
                <a:solidFill>
                  <a:srgbClr val="E8782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E87822"/>
                </a:solidFill>
                <a:latin typeface="Arial"/>
                <a:ea typeface="Arial"/>
                <a:cs typeface="Arial"/>
              </a:rPr>
              <a:t>120-STUDENT CLASS · DETECT, INTERVENE, RECHECK</a:t>
            </a:r>
            <a:endParaRPr sz="105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C46389A-68FD-4DF5-BF59-32B42F51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2590"/>
            <a:ext cx="11810390" cy="305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5B"/>
          </a:solidFill>
          <a:ln xmlns:a="http://schemas.openxmlformats.org/drawingml/2006/main" w="12700">
            <a:solidFill>
              <a:srgbClr val="0077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DCCF7944-F210-4691-B0CB-833FED0F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0390" y="6552590"/>
            <a:ext cx="381305" cy="305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513"/>
          </a:solidFill>
          <a:ln xmlns:a="http://schemas.openxmlformats.org/drawingml/2006/main" w="12700">
            <a:solidFill>
              <a:srgbClr val="D5651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BE2B34A-6C75-4AD9-96AA-EAE840CB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583680"/>
            <a:ext cx="24688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格物致知 · 守正创新</a:t>
            </a:r>
            <a:endParaRPr sz="92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B4169110-7AA4-4C3B-9754-492979F2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6583680"/>
            <a:ext cx="3703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CLASSLOOP · SUMMER TERM PROPOSAL</a:t>
            </a:r>
            <a:endParaRPr sz="87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6E2421C8-9F86-4E0E-A61F-F3A189BD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2336" y="6565392"/>
            <a:ext cx="329184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6</a:t>
            </a:r>
            <a:endParaRPr sz="950"/>
          </a:p>
        </p:txBody>
      </p:sp>
      <p:sp>
        <p:nvSpPr>
          <p:cNvPr id="83" name="s6-case">
            <a:extLst xmlns:a="http://schemas.openxmlformats.org/drawingml/2006/main">
              <a:ext uri="{FF2B5EF4-FFF2-40B4-BE49-F238E27FC236}">
                <a16:creationId xmlns:a16="http://schemas.microsoft.com/office/drawing/2014/main" id="{9D089FEE-7F91-4521-A357-B78B6262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9725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4213D"/>
                </a:solidFill>
                <a:latin typeface="华文中宋"/>
                <a:ea typeface="华文中宋"/>
                <a:cs typeface="华文中宋"/>
              </a:defRPr>
            </a:pPr>
            <a:r>
              <a:rPr sz="1425" b="0">
                <a:solidFill>
                  <a:srgbClr val="14213D"/>
                </a:solidFill>
                <a:latin typeface="华文中宋"/>
                <a:ea typeface="华文中宋"/>
                <a:cs typeface="华文中宋"/>
              </a:rPr>
              <a:t>场景：120 人大学《数据结构》大班课 / 在线同步课堂｜知识点：AVL 树的查找复杂度</a:t>
            </a:r>
          </a:p>
        </p:txBody>
      </p:sp>
      <p:sp>
        <p:nvSpPr>
          <p:cNvPr id="84" name="s6-demo">
            <a:extLst xmlns:a="http://schemas.openxmlformats.org/drawingml/2006/main">
              <a:ext uri="{FF2B5EF4-FFF2-40B4-BE49-F238E27FC236}">
                <a16:creationId xmlns:a16="http://schemas.microsoft.com/office/drawing/2014/main" id="{76AB0AF3-1461-4BEA-B1BB-BECA1CA1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162050"/>
            <a:ext cx="1466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782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华文中宋"/>
                <a:ea typeface="华文中宋"/>
                <a:cs typeface="华文中宋"/>
              </a:defRPr>
            </a:pPr>
            <a:r>
              <a:rPr sz="1200" b="0">
                <a:solidFill>
                  <a:srgbClr val="FFFFFF"/>
                </a:solidFill>
                <a:latin typeface="华文中宋"/>
                <a:ea typeface="华文中宋"/>
                <a:cs typeface="华文中宋"/>
              </a:rPr>
              <a:t>演示数据</a:t>
            </a:r>
          </a:p>
        </p:txBody>
      </p:sp>
      <p:sp>
        <p:nvSpPr>
          <p:cNvPr id="85" name="s6-line">
            <a:extLst xmlns:a="http://schemas.openxmlformats.org/drawingml/2006/main">
              <a:ext uri="{FF2B5EF4-FFF2-40B4-BE49-F238E27FC236}">
                <a16:creationId xmlns:a16="http://schemas.microsoft.com/office/drawing/2014/main" id="{2CA7414D-A72F-4328-98BA-89059A78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81250"/>
            <a:ext cx="9982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s6-time-0">
            <a:extLst xmlns:a="http://schemas.openxmlformats.org/drawingml/2006/main">
              <a:ext uri="{FF2B5EF4-FFF2-40B4-BE49-F238E27FC236}">
                <a16:creationId xmlns:a16="http://schemas.microsoft.com/office/drawing/2014/main" id="{782FBA0B-951C-415A-A40E-DAAED246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6764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F6BFF"/>
                </a:solidFill>
                <a:latin typeface="Arial"/>
                <a:ea typeface="Arial"/>
                <a:cs typeface="Arial"/>
              </a:rPr>
              <a:t>0:00</a:t>
            </a:r>
          </a:p>
        </p:txBody>
      </p:sp>
      <p:sp>
        <p:nvSpPr>
          <p:cNvPr id="87" name="s6-dot-0">
            <a:extLst xmlns:a="http://schemas.openxmlformats.org/drawingml/2006/main">
              <a:ext uri="{FF2B5EF4-FFF2-40B4-BE49-F238E27FC236}">
                <a16:creationId xmlns:a16="http://schemas.microsoft.com/office/drawing/2014/main" id="{DE420855-4F72-463A-98DC-7F0B089E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28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8" name="s6-head-0">
            <a:extLst xmlns:a="http://schemas.openxmlformats.org/drawingml/2006/main">
              <a:ext uri="{FF2B5EF4-FFF2-40B4-BE49-F238E27FC236}">
                <a16:creationId xmlns:a16="http://schemas.microsoft.com/office/drawing/2014/main" id="{3F05374C-926C-4AD9-B430-124E1933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F6BFF"/>
                </a:solidFill>
                <a:latin typeface="华文中宋"/>
                <a:ea typeface="华文中宋"/>
                <a:cs typeface="华文中宋"/>
              </a:defRPr>
            </a:pPr>
            <a:r>
              <a:rPr sz="1275" b="0">
                <a:solidFill>
                  <a:srgbClr val="2F6BFF"/>
                </a:solidFill>
                <a:latin typeface="华文中宋"/>
                <a:ea typeface="华文中宋"/>
                <a:cs typeface="华文中宋"/>
              </a:rPr>
              <a:t>正常讲授</a:t>
            </a:r>
          </a:p>
        </p:txBody>
      </p:sp>
      <p:sp>
        <p:nvSpPr>
          <p:cNvPr id="89" name="s6-body-0">
            <a:extLst xmlns:a="http://schemas.openxmlformats.org/drawingml/2006/main">
              <a:ext uri="{FF2B5EF4-FFF2-40B4-BE49-F238E27FC236}">
                <a16:creationId xmlns:a16="http://schemas.microsoft.com/office/drawing/2014/main" id="{BB7DD708-DEE8-4EB3-98EC-38510057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67050"/>
            <a:ext cx="142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B67"/>
                </a:solidFill>
                <a:latin typeface="华文中宋"/>
                <a:ea typeface="华文中宋"/>
                <a:cs typeface="华文中宋"/>
              </a:defRPr>
            </a:pPr>
            <a:r>
              <a:rPr sz="1050" b="0">
                <a:solidFill>
                  <a:srgbClr val="5B6B67"/>
                </a:solidFill>
                <a:latin typeface="华文中宋"/>
                <a:ea typeface="华文中宋"/>
                <a:cs typeface="华文中宋"/>
              </a:rPr>
              <a:t>树高与查找路径</a:t>
            </a:r>
          </a:p>
        </p:txBody>
      </p:sp>
      <p:sp>
        <p:nvSpPr>
          <p:cNvPr id="90" name="s6-time-1">
            <a:extLst xmlns:a="http://schemas.openxmlformats.org/drawingml/2006/main">
              <a:ext uri="{FF2B5EF4-FFF2-40B4-BE49-F238E27FC236}">
                <a16:creationId xmlns:a16="http://schemas.microsoft.com/office/drawing/2014/main" id="{F649269C-DE8A-4A6E-B8D6-BA958007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1924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A58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A58A"/>
                </a:solidFill>
                <a:latin typeface="Arial"/>
                <a:ea typeface="Arial"/>
                <a:cs typeface="Arial"/>
              </a:rPr>
              <a:t>2:00</a:t>
            </a:r>
          </a:p>
        </p:txBody>
      </p:sp>
      <p:sp>
        <p:nvSpPr>
          <p:cNvPr id="91" name="s6-dot-1">
            <a:extLst xmlns:a="http://schemas.openxmlformats.org/drawingml/2006/main">
              <a:ext uri="{FF2B5EF4-FFF2-40B4-BE49-F238E27FC236}">
                <a16:creationId xmlns:a16="http://schemas.microsoft.com/office/drawing/2014/main" id="{039F5D27-9FAE-44FF-87DF-D676E079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28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58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2" name="s6-head-1">
            <a:extLst xmlns:a="http://schemas.openxmlformats.org/drawingml/2006/main">
              <a:ext uri="{FF2B5EF4-FFF2-40B4-BE49-F238E27FC236}">
                <a16:creationId xmlns:a16="http://schemas.microsoft.com/office/drawing/2014/main" id="{42710F00-94EC-4FAB-B66B-8CC2A0B8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7241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A58A"/>
                </a:solidFill>
                <a:latin typeface="华文中宋"/>
                <a:ea typeface="华文中宋"/>
                <a:cs typeface="华文中宋"/>
              </a:defRPr>
            </a:pPr>
            <a:r>
              <a:rPr sz="1275" b="0">
                <a:solidFill>
                  <a:srgbClr val="10A58A"/>
                </a:solidFill>
                <a:latin typeface="华文中宋"/>
                <a:ea typeface="华文中宋"/>
                <a:cs typeface="华文中宋"/>
              </a:rPr>
              <a:t>微型初测</a:t>
            </a:r>
          </a:p>
        </p:txBody>
      </p:sp>
      <p:sp>
        <p:nvSpPr>
          <p:cNvPr id="93" name="s6-body-1">
            <a:extLst xmlns:a="http://schemas.openxmlformats.org/drawingml/2006/main">
              <a:ext uri="{FF2B5EF4-FFF2-40B4-BE49-F238E27FC236}">
                <a16:creationId xmlns:a16="http://schemas.microsoft.com/office/drawing/2014/main" id="{BA819FE1-D652-4180-937D-387933BE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067050"/>
            <a:ext cx="142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B67"/>
                </a:solidFill>
                <a:latin typeface="华文中宋"/>
                <a:ea typeface="华文中宋"/>
                <a:cs typeface="华文中宋"/>
              </a:defRPr>
            </a:pPr>
            <a:r>
              <a:rPr sz="1050" b="0">
                <a:solidFill>
                  <a:srgbClr val="5B6B67"/>
                </a:solidFill>
                <a:latin typeface="华文中宋"/>
                <a:ea typeface="华文中宋"/>
                <a:cs typeface="华文中宋"/>
              </a:rPr>
              <a:t>10–30 秒作答</a:t>
            </a:r>
          </a:p>
        </p:txBody>
      </p:sp>
      <p:sp>
        <p:nvSpPr>
          <p:cNvPr id="94" name="s6-time-2">
            <a:extLst xmlns:a="http://schemas.openxmlformats.org/drawingml/2006/main">
              <a:ext uri="{FF2B5EF4-FFF2-40B4-BE49-F238E27FC236}">
                <a16:creationId xmlns:a16="http://schemas.microsoft.com/office/drawing/2014/main" id="{1C9EE79D-91BD-4E67-B4ED-6F2D58AD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6764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957D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957D5"/>
                </a:solidFill>
                <a:latin typeface="Arial"/>
                <a:ea typeface="Arial"/>
                <a:cs typeface="Arial"/>
              </a:rPr>
              <a:t>2:30</a:t>
            </a:r>
          </a:p>
        </p:txBody>
      </p:sp>
      <p:sp>
        <p:nvSpPr>
          <p:cNvPr id="95" name="s6-dot-2">
            <a:extLst xmlns:a="http://schemas.openxmlformats.org/drawingml/2006/main">
              <a:ext uri="{FF2B5EF4-FFF2-40B4-BE49-F238E27FC236}">
                <a16:creationId xmlns:a16="http://schemas.microsoft.com/office/drawing/2014/main" id="{349AB641-7FD0-4E0D-81F0-53A4E1C8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28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7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6" name="s6-head-2">
            <a:extLst xmlns:a="http://schemas.openxmlformats.org/drawingml/2006/main">
              <a:ext uri="{FF2B5EF4-FFF2-40B4-BE49-F238E27FC236}">
                <a16:creationId xmlns:a16="http://schemas.microsoft.com/office/drawing/2014/main" id="{136B2FB3-4CD6-4E1C-A416-C4EC01EE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241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957D5"/>
                </a:solidFill>
                <a:latin typeface="华文中宋"/>
                <a:ea typeface="华文中宋"/>
                <a:cs typeface="华文中宋"/>
              </a:defRPr>
            </a:pPr>
            <a:r>
              <a:rPr sz="1275" b="0">
                <a:solidFill>
                  <a:srgbClr val="7957D5"/>
                </a:solidFill>
                <a:latin typeface="华文中宋"/>
                <a:ea typeface="华文中宋"/>
                <a:cs typeface="华文中宋"/>
              </a:rPr>
              <a:t>聚合结果</a:t>
            </a:r>
          </a:p>
        </p:txBody>
      </p:sp>
      <p:sp>
        <p:nvSpPr>
          <p:cNvPr id="97" name="s6-body-2">
            <a:extLst xmlns:a="http://schemas.openxmlformats.org/drawingml/2006/main">
              <a:ext uri="{FF2B5EF4-FFF2-40B4-BE49-F238E27FC236}">
                <a16:creationId xmlns:a16="http://schemas.microsoft.com/office/drawing/2014/main" id="{C4E84EC1-5E7E-4700-9D1C-08A3D4C2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067050"/>
            <a:ext cx="142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B67"/>
                </a:solidFill>
                <a:latin typeface="华文中宋"/>
                <a:ea typeface="华文中宋"/>
                <a:cs typeface="华文中宋"/>
              </a:defRPr>
            </a:pPr>
            <a:r>
              <a:rPr sz="1050" b="0">
                <a:solidFill>
                  <a:srgbClr val="5B6B67"/>
                </a:solidFill>
                <a:latin typeface="华文中宋"/>
                <a:ea typeface="华文中宋"/>
                <a:cs typeface="华文中宋"/>
              </a:rPr>
              <a:t>按知识点汇总</a:t>
            </a:r>
          </a:p>
        </p:txBody>
      </p:sp>
      <p:sp>
        <p:nvSpPr>
          <p:cNvPr id="98" name="s6-time-3">
            <a:extLst xmlns:a="http://schemas.openxmlformats.org/drawingml/2006/main">
              <a:ext uri="{FF2B5EF4-FFF2-40B4-BE49-F238E27FC236}">
                <a16:creationId xmlns:a16="http://schemas.microsoft.com/office/drawing/2014/main" id="{9D408198-B9A1-4BBB-8CC8-DEC2E3B6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1924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E8782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87822"/>
                </a:solidFill>
                <a:latin typeface="Arial"/>
                <a:ea typeface="Arial"/>
                <a:cs typeface="Arial"/>
              </a:rPr>
              <a:t>3:00</a:t>
            </a:r>
          </a:p>
        </p:txBody>
      </p:sp>
      <p:sp>
        <p:nvSpPr>
          <p:cNvPr id="99" name="s6-dot-3">
            <a:extLst xmlns:a="http://schemas.openxmlformats.org/drawingml/2006/main">
              <a:ext uri="{FF2B5EF4-FFF2-40B4-BE49-F238E27FC236}">
                <a16:creationId xmlns:a16="http://schemas.microsoft.com/office/drawing/2014/main" id="{F27C7EFF-A776-457A-8D63-9AE656E5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228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82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0" name="s6-head-3">
            <a:extLst xmlns:a="http://schemas.openxmlformats.org/drawingml/2006/main">
              <a:ext uri="{FF2B5EF4-FFF2-40B4-BE49-F238E27FC236}">
                <a16:creationId xmlns:a16="http://schemas.microsoft.com/office/drawing/2014/main" id="{F879439B-2900-4FEB-BDA1-CDEF4A66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241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87822"/>
                </a:solidFill>
                <a:latin typeface="华文中宋"/>
                <a:ea typeface="华文中宋"/>
                <a:cs typeface="华文中宋"/>
              </a:defRPr>
            </a:pPr>
            <a:r>
              <a:rPr sz="1275" b="0">
                <a:solidFill>
                  <a:srgbClr val="E87822"/>
                </a:solidFill>
                <a:latin typeface="华文中宋"/>
                <a:ea typeface="华文中宋"/>
                <a:cs typeface="华文中宋"/>
              </a:rPr>
              <a:t>识别误区</a:t>
            </a:r>
          </a:p>
        </p:txBody>
      </p:sp>
      <p:sp>
        <p:nvSpPr>
          <p:cNvPr id="101" name="s6-body-3">
            <a:extLst xmlns:a="http://schemas.openxmlformats.org/drawingml/2006/main">
              <a:ext uri="{FF2B5EF4-FFF2-40B4-BE49-F238E27FC236}">
                <a16:creationId xmlns:a16="http://schemas.microsoft.com/office/drawing/2014/main" id="{EC869C28-E7E0-4464-BC38-4AB7DF59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67050"/>
            <a:ext cx="142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B67"/>
                </a:solidFill>
                <a:latin typeface="华文中宋"/>
                <a:ea typeface="华文中宋"/>
                <a:cs typeface="华文中宋"/>
              </a:defRPr>
            </a:pPr>
            <a:r>
              <a:rPr sz="1050" b="0">
                <a:solidFill>
                  <a:srgbClr val="5B6B67"/>
                </a:solidFill>
                <a:latin typeface="华文中宋"/>
                <a:ea typeface="华文中宋"/>
                <a:cs typeface="华文中宋"/>
              </a:rPr>
              <a:t>混淆树高与复杂度</a:t>
            </a:r>
          </a:p>
        </p:txBody>
      </p:sp>
      <p:sp>
        <p:nvSpPr>
          <p:cNvPr id="102" name="s6-time-4">
            <a:extLst xmlns:a="http://schemas.openxmlformats.org/drawingml/2006/main">
              <a:ext uri="{FF2B5EF4-FFF2-40B4-BE49-F238E27FC236}">
                <a16:creationId xmlns:a16="http://schemas.microsoft.com/office/drawing/2014/main" id="{9DE2E72F-D8BF-4A5E-85F4-90066ECB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6764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87A5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87A5B"/>
                </a:solidFill>
                <a:latin typeface="Arial"/>
                <a:ea typeface="Arial"/>
                <a:cs typeface="Arial"/>
              </a:rPr>
              <a:t>4:00</a:t>
            </a:r>
          </a:p>
        </p:txBody>
      </p:sp>
      <p:sp>
        <p:nvSpPr>
          <p:cNvPr id="103" name="s6-dot-4">
            <a:extLst xmlns:a="http://schemas.openxmlformats.org/drawingml/2006/main">
              <a:ext uri="{FF2B5EF4-FFF2-40B4-BE49-F238E27FC236}">
                <a16:creationId xmlns:a16="http://schemas.microsoft.com/office/drawing/2014/main" id="{78D0A20E-31D2-4A12-85DC-3D712FE7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28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5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04" name="s6-head-4">
            <a:extLst xmlns:a="http://schemas.openxmlformats.org/drawingml/2006/main">
              <a:ext uri="{FF2B5EF4-FFF2-40B4-BE49-F238E27FC236}">
                <a16:creationId xmlns:a16="http://schemas.microsoft.com/office/drawing/2014/main" id="{CA1AF010-1A0F-43A6-9BB2-ECFFEBCF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241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87A5B"/>
                </a:solidFill>
                <a:latin typeface="华文中宋"/>
                <a:ea typeface="华文中宋"/>
                <a:cs typeface="华文中宋"/>
              </a:defRPr>
            </a:pPr>
            <a:r>
              <a:rPr sz="1275" b="0">
                <a:solidFill>
                  <a:srgbClr val="087A5B"/>
                </a:solidFill>
                <a:latin typeface="华文中宋"/>
                <a:ea typeface="华文中宋"/>
                <a:cs typeface="华文中宋"/>
              </a:rPr>
              <a:t>教师干预</a:t>
            </a:r>
          </a:p>
        </p:txBody>
      </p:sp>
      <p:sp>
        <p:nvSpPr>
          <p:cNvPr id="105" name="s6-body-4">
            <a:extLst xmlns:a="http://schemas.openxmlformats.org/drawingml/2006/main">
              <a:ext uri="{FF2B5EF4-FFF2-40B4-BE49-F238E27FC236}">
                <a16:creationId xmlns:a16="http://schemas.microsoft.com/office/drawing/2014/main" id="{DB0ED6DD-A6FD-40D6-9653-EC913A30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67050"/>
            <a:ext cx="142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B67"/>
                </a:solidFill>
                <a:latin typeface="华文中宋"/>
                <a:ea typeface="华文中宋"/>
                <a:cs typeface="华文中宋"/>
              </a:defRPr>
            </a:pPr>
            <a:r>
              <a:rPr sz="1050" b="0">
                <a:solidFill>
                  <a:srgbClr val="5B6B67"/>
                </a:solidFill>
                <a:latin typeface="华文中宋"/>
                <a:ea typeface="华文中宋"/>
                <a:cs typeface="华文中宋"/>
              </a:rPr>
              <a:t>对比反例并补讲</a:t>
            </a:r>
          </a:p>
        </p:txBody>
      </p:sp>
      <p:sp>
        <p:nvSpPr>
          <p:cNvPr id="106" name="s6-time-5">
            <a:extLst xmlns:a="http://schemas.openxmlformats.org/drawingml/2006/main">
              <a:ext uri="{FF2B5EF4-FFF2-40B4-BE49-F238E27FC236}">
                <a16:creationId xmlns:a16="http://schemas.microsoft.com/office/drawing/2014/main" id="{E43041E7-3FE9-4FCF-BDC1-D3D1DB70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924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F6BFF"/>
                </a:solidFill>
                <a:latin typeface="Arial"/>
                <a:ea typeface="Arial"/>
                <a:cs typeface="Arial"/>
              </a:rPr>
              <a:t>5:30</a:t>
            </a:r>
          </a:p>
        </p:txBody>
      </p:sp>
      <p:sp>
        <p:nvSpPr>
          <p:cNvPr id="107" name="s6-dot-5">
            <a:extLst xmlns:a="http://schemas.openxmlformats.org/drawingml/2006/main">
              <a:ext uri="{FF2B5EF4-FFF2-40B4-BE49-F238E27FC236}">
                <a16:creationId xmlns:a16="http://schemas.microsoft.com/office/drawing/2014/main" id="{3B24965D-933E-4CDC-9070-90F45BA9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28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08" name="s6-head-5">
            <a:extLst xmlns:a="http://schemas.openxmlformats.org/drawingml/2006/main">
              <a:ext uri="{FF2B5EF4-FFF2-40B4-BE49-F238E27FC236}">
                <a16:creationId xmlns:a16="http://schemas.microsoft.com/office/drawing/2014/main" id="{98610DFA-3827-49A8-A640-E1BB109F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241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F6BFF"/>
                </a:solidFill>
                <a:latin typeface="华文中宋"/>
                <a:ea typeface="华文中宋"/>
                <a:cs typeface="华文中宋"/>
              </a:defRPr>
            </a:pPr>
            <a:r>
              <a:rPr sz="1275" b="0">
                <a:solidFill>
                  <a:srgbClr val="2F6BFF"/>
                </a:solidFill>
                <a:latin typeface="华文中宋"/>
                <a:ea typeface="华文中宋"/>
                <a:cs typeface="华文中宋"/>
              </a:rPr>
              <a:t>再次复测</a:t>
            </a:r>
          </a:p>
        </p:txBody>
      </p:sp>
      <p:sp>
        <p:nvSpPr>
          <p:cNvPr id="109" name="s6-body-5">
            <a:extLst xmlns:a="http://schemas.openxmlformats.org/drawingml/2006/main">
              <a:ext uri="{FF2B5EF4-FFF2-40B4-BE49-F238E27FC236}">
                <a16:creationId xmlns:a16="http://schemas.microsoft.com/office/drawing/2014/main" id="{AA7B9830-66FF-4117-B6BA-DA4EC1E2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67050"/>
            <a:ext cx="142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B67"/>
                </a:solidFill>
                <a:latin typeface="华文中宋"/>
                <a:ea typeface="华文中宋"/>
                <a:cs typeface="华文中宋"/>
              </a:defRPr>
            </a:pPr>
            <a:r>
              <a:rPr sz="1050" b="0">
                <a:solidFill>
                  <a:srgbClr val="5B6B67"/>
                </a:solidFill>
                <a:latin typeface="华文中宋"/>
                <a:ea typeface="华文中宋"/>
                <a:cs typeface="华文中宋"/>
              </a:rPr>
              <a:t>同构题确认理解</a:t>
            </a:r>
          </a:p>
        </p:txBody>
      </p:sp>
      <p:sp>
        <p:nvSpPr>
          <p:cNvPr id="110" name="s6-time-6">
            <a:extLst xmlns:a="http://schemas.openxmlformats.org/drawingml/2006/main">
              <a:ext uri="{FF2B5EF4-FFF2-40B4-BE49-F238E27FC236}">
                <a16:creationId xmlns:a16="http://schemas.microsoft.com/office/drawing/2014/main" id="{F03D313F-814E-4430-BEEC-154C99A5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16764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7564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75642"/>
                </a:solidFill>
                <a:latin typeface="Arial"/>
                <a:ea typeface="Arial"/>
                <a:cs typeface="Arial"/>
              </a:rPr>
              <a:t>6:00</a:t>
            </a:r>
          </a:p>
        </p:txBody>
      </p:sp>
      <p:sp>
        <p:nvSpPr>
          <p:cNvPr id="111" name="s6-dot-6">
            <a:extLst xmlns:a="http://schemas.openxmlformats.org/drawingml/2006/main">
              <a:ext uri="{FF2B5EF4-FFF2-40B4-BE49-F238E27FC236}">
                <a16:creationId xmlns:a16="http://schemas.microsoft.com/office/drawing/2014/main" id="{6BA393ED-4683-4D4E-83D1-3309212B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228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6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12" name="s6-head-6">
            <a:extLst xmlns:a="http://schemas.openxmlformats.org/drawingml/2006/main">
              <a:ext uri="{FF2B5EF4-FFF2-40B4-BE49-F238E27FC236}">
                <a16:creationId xmlns:a16="http://schemas.microsoft.com/office/drawing/2014/main" id="{4A0B238E-985D-4175-8041-6E3A19BC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241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75642"/>
                </a:solidFill>
                <a:latin typeface="华文中宋"/>
                <a:ea typeface="华文中宋"/>
                <a:cs typeface="华文中宋"/>
              </a:defRPr>
            </a:pPr>
            <a:r>
              <a:rPr sz="1275" b="0">
                <a:solidFill>
                  <a:srgbClr val="075642"/>
                </a:solidFill>
                <a:latin typeface="华文中宋"/>
                <a:ea typeface="华文中宋"/>
                <a:cs typeface="华文中宋"/>
              </a:rPr>
              <a:t>输出结果</a:t>
            </a:r>
          </a:p>
        </p:txBody>
      </p:sp>
      <p:sp>
        <p:nvSpPr>
          <p:cNvPr id="113" name="s6-body-6">
            <a:extLst xmlns:a="http://schemas.openxmlformats.org/drawingml/2006/main">
              <a:ext uri="{FF2B5EF4-FFF2-40B4-BE49-F238E27FC236}">
                <a16:creationId xmlns:a16="http://schemas.microsoft.com/office/drawing/2014/main" id="{63B382A8-8CEB-4BBE-8ED0-20CB60A9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067050"/>
            <a:ext cx="142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B67"/>
                </a:solidFill>
                <a:latin typeface="华文中宋"/>
                <a:ea typeface="华文中宋"/>
                <a:cs typeface="华文中宋"/>
              </a:defRPr>
            </a:pPr>
            <a:r>
              <a:rPr sz="1050" b="0">
                <a:solidFill>
                  <a:srgbClr val="5B6B67"/>
                </a:solidFill>
                <a:latin typeface="华文中宋"/>
                <a:ea typeface="华文中宋"/>
                <a:cs typeface="华文中宋"/>
              </a:rPr>
              <a:t>修复增益与未修复范围</a:t>
            </a:r>
          </a:p>
        </p:txBody>
      </p:sp>
      <p:sp>
        <p:nvSpPr>
          <p:cNvPr id="114" name="s6-before">
            <a:extLst xmlns:a="http://schemas.openxmlformats.org/drawingml/2006/main">
              <a:ext uri="{FF2B5EF4-FFF2-40B4-BE49-F238E27FC236}">
                <a16:creationId xmlns:a16="http://schemas.microsoft.com/office/drawing/2014/main" id="{86B5D85D-0322-4CDA-B010-F1D16D84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3143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6BFF"/>
                </a:solidFill>
                <a:latin typeface="华文中宋"/>
                <a:ea typeface="华文中宋"/>
                <a:cs typeface="华文中宋"/>
              </a:defRPr>
            </a:pPr>
            <a:r>
              <a:rPr sz="1500" b="0">
                <a:solidFill>
                  <a:srgbClr val="2F6BFF"/>
                </a:solidFill>
                <a:latin typeface="华文中宋"/>
                <a:ea typeface="华文中宋"/>
                <a:cs typeface="华文中宋"/>
              </a:rPr>
              <a:t>初测：38% 学生误选</a:t>
            </a:r>
          </a:p>
          <a:p xmlns:a="http://schemas.openxmlformats.org/drawingml/2006/main">
            <a:pPr algn="ctr">
              <a:defRPr sz="1500" b="0">
                <a:solidFill>
                  <a:srgbClr val="2F6BFF"/>
                </a:solidFill>
                <a:latin typeface="华文中宋"/>
                <a:ea typeface="华文中宋"/>
                <a:cs typeface="华文中宋"/>
              </a:defRPr>
            </a:pPr>
            <a:r>
              <a:rPr sz="1500" b="0">
                <a:solidFill>
                  <a:srgbClr val="2F6BFF"/>
                </a:solidFill>
                <a:latin typeface="华文中宋"/>
                <a:ea typeface="华文中宋"/>
                <a:cs typeface="华文中宋"/>
              </a:rPr>
              <a:t>系统定位为同一共性误区</a:t>
            </a:r>
          </a:p>
        </p:txBody>
      </p:sp>
      <p:sp>
        <p:nvSpPr>
          <p:cNvPr id="115" name="s6-intervention">
            <a:extLst xmlns:a="http://schemas.openxmlformats.org/drawingml/2006/main">
              <a:ext uri="{FF2B5EF4-FFF2-40B4-BE49-F238E27FC236}">
                <a16:creationId xmlns:a16="http://schemas.microsoft.com/office/drawing/2014/main" id="{FEADF5FF-3D43-48FE-B39D-36F13E1E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19550"/>
            <a:ext cx="3143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9525">
            <a:solidFill>
              <a:srgbClr val="E87822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87822"/>
                </a:solidFill>
                <a:latin typeface="华文中宋"/>
                <a:ea typeface="华文中宋"/>
                <a:cs typeface="华文中宋"/>
              </a:defRPr>
            </a:pPr>
            <a:r>
              <a:rPr sz="1350" b="0">
                <a:solidFill>
                  <a:srgbClr val="E87822"/>
                </a:solidFill>
                <a:latin typeface="华文中宋"/>
                <a:ea typeface="华文中宋"/>
                <a:cs typeface="华文中宋"/>
              </a:rPr>
              <a:t>教师动作：展示退化 BST 与 AVL 对比</a:t>
            </a:r>
          </a:p>
          <a:p xmlns:a="http://schemas.openxmlformats.org/drawingml/2006/main">
            <a:pPr algn="ctr">
              <a:defRPr sz="1350" b="0">
                <a:solidFill>
                  <a:srgbClr val="E87822"/>
                </a:solidFill>
                <a:latin typeface="华文中宋"/>
                <a:ea typeface="华文中宋"/>
                <a:cs typeface="华文中宋"/>
              </a:defRPr>
            </a:pPr>
            <a:r>
              <a:rPr sz="1350" b="0">
                <a:solidFill>
                  <a:srgbClr val="E87822"/>
                </a:solidFill>
                <a:latin typeface="华文中宋"/>
                <a:ea typeface="华文中宋"/>
                <a:cs typeface="华文中宋"/>
              </a:rPr>
              <a:t>沿用本节课符号和术语</a:t>
            </a:r>
          </a:p>
        </p:txBody>
      </p:sp>
      <p:sp>
        <p:nvSpPr>
          <p:cNvPr id="116" name="s6-after">
            <a:extLst xmlns:a="http://schemas.openxmlformats.org/drawingml/2006/main">
              <a:ext uri="{FF2B5EF4-FFF2-40B4-BE49-F238E27FC236}">
                <a16:creationId xmlns:a16="http://schemas.microsoft.com/office/drawing/2014/main" id="{548F4AE0-645E-4F03-8AA7-926CD2C9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19550"/>
            <a:ext cx="3143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9F5F1"/>
          </a:solidFill>
          <a:ln xmlns:a="http://schemas.openxmlformats.org/drawingml/2006/main" w="9525">
            <a:solidFill>
              <a:srgbClr val="087A5B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87A5B"/>
                </a:solidFill>
                <a:latin typeface="华文中宋"/>
                <a:ea typeface="华文中宋"/>
                <a:cs typeface="华文中宋"/>
              </a:defRPr>
            </a:pPr>
            <a:r>
              <a:rPr sz="1500" b="0">
                <a:solidFill>
                  <a:srgbClr val="087A5B"/>
                </a:solidFill>
                <a:latin typeface="华文中宋"/>
                <a:ea typeface="华文中宋"/>
                <a:cs typeface="华文中宋"/>
              </a:rPr>
              <a:t>复测正确率：62% → 88%</a:t>
            </a:r>
          </a:p>
          <a:p xmlns:a="http://schemas.openxmlformats.org/drawingml/2006/main">
            <a:pPr algn="ctr">
              <a:defRPr sz="1500" b="0">
                <a:solidFill>
                  <a:srgbClr val="087A5B"/>
                </a:solidFill>
                <a:latin typeface="华文中宋"/>
                <a:ea typeface="华文中宋"/>
                <a:cs typeface="华文中宋"/>
              </a:defRPr>
            </a:pPr>
            <a:r>
              <a:rPr sz="1500" b="0">
                <a:solidFill>
                  <a:srgbClr val="087A5B"/>
                </a:solidFill>
                <a:latin typeface="华文中宋"/>
                <a:ea typeface="华文中宋"/>
                <a:cs typeface="华文中宋"/>
              </a:rPr>
              <a:t>同时输出仍未修复的学生范围</a:t>
            </a:r>
          </a:p>
        </p:txBody>
      </p:sp>
      <p:sp>
        <p:nvSpPr>
          <p:cNvPr id="117" name="s6-formula">
            <a:extLst xmlns:a="http://schemas.openxmlformats.org/drawingml/2006/main">
              <a:ext uri="{FF2B5EF4-FFF2-40B4-BE49-F238E27FC236}">
                <a16:creationId xmlns:a16="http://schemas.microsoft.com/office/drawing/2014/main" id="{E6ABB5BA-0BAD-4823-AAE0-B579D553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219700"/>
            <a:ext cx="8991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6F9F8"/>
          </a:solidFill>
          <a:ln xmlns:a="http://schemas.openxmlformats.org/drawingml/2006/main" w="9525">
            <a:solidFill>
              <a:srgbClr val="D8E2DF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4213D"/>
                </a:solidFill>
                <a:latin typeface="华文中宋"/>
                <a:ea typeface="华文中宋"/>
                <a:cs typeface="华文中宋"/>
              </a:defRPr>
            </a:pPr>
            <a:r>
              <a:rPr sz="1275" b="0">
                <a:solidFill>
                  <a:srgbClr val="14213D"/>
                </a:solidFill>
                <a:latin typeface="华文中宋"/>
                <a:ea typeface="华文中宋"/>
                <a:cs typeface="华文中宋"/>
              </a:rPr>
              <a:t>修复增益 = 复测正确率 − 初测正确率｜以上比例均为流程演示值，不代表已完成课堂实验</a:t>
            </a:r>
          </a:p>
        </p:txBody>
      </p:sp>
      <p:sp>
        <p:nvSpPr>
          <p:cNvPr id="118" name="s6-close">
            <a:extLst xmlns:a="http://schemas.openxmlformats.org/drawingml/2006/main">
              <a:ext uri="{FF2B5EF4-FFF2-40B4-BE49-F238E27FC236}">
                <a16:creationId xmlns:a16="http://schemas.microsoft.com/office/drawing/2014/main" id="{6501C564-EE4F-41B3-A014-190413AB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59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75642"/>
                </a:solidFill>
                <a:latin typeface="华文中宋"/>
                <a:ea typeface="华文中宋"/>
                <a:cs typeface="华文中宋"/>
              </a:defRPr>
            </a:pPr>
            <a:r>
              <a:rPr sz="1350" b="0">
                <a:solidFill>
                  <a:srgbClr val="075642"/>
                </a:solidFill>
                <a:latin typeface="华文中宋"/>
                <a:ea typeface="华文中宋"/>
                <a:cs typeface="华文中宋"/>
              </a:rPr>
              <a:t>7 分钟内，教师得到“哪里卡住—影响多少人—补讲是否有效”的完整证据链。</a:t>
            </a:r>
          </a:p>
        </p:txBody>
      </p:sp>
    </p:spTree>
    <p:extLst>
      <p:ext uri="{BB962C8B-B14F-4D97-AF65-F5344CB8AC3E}">
        <p14:creationId xmlns:p14="http://schemas.microsoft.com/office/powerpoint/2010/main" val="4549061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F9E49C5-84F8-4028-B52C-D127E1A3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" cy="589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5B"/>
          </a:solidFill>
          <a:ln xmlns:a="http://schemas.openxmlformats.org/drawingml/2006/main" w="12700">
            <a:solidFill>
              <a:srgbClr val="0077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19AA543-758A-4DBA-B15E-C335BE0A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" y="0"/>
            <a:ext cx="66751" cy="589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513"/>
          </a:solidFill>
          <a:ln xmlns:a="http://schemas.openxmlformats.org/drawingml/2006/main" w="12700">
            <a:solidFill>
              <a:srgbClr val="D5651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9154855-BAEE-496C-874A-2F4D33BF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175" b="1">
                <a:solidFill>
                  <a:srgbClr val="2230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302C"/>
                </a:solidFill>
                <a:latin typeface="Microsoft YaHei"/>
                <a:ea typeface="Microsoft YaHei"/>
                <a:cs typeface="Microsoft YaHei"/>
              </a:rPr>
              <a:t>学生行为如何形成班级认知状态？</a:t>
            </a:r>
            <a:endParaRPr sz="22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1943E17-1CAD-42B9-9E40-470A311D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589788"/>
            <a:ext cx="1111910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9D3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0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dd44460ac946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48672" y="137160"/>
            <a:ext cx="1563624" cy="342900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924F0D3-22DA-4C6B-8F60-7710EDEA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8952"/>
            <a:ext cx="42976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75" b="0">
                <a:solidFill>
                  <a:srgbClr val="E8782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E87822"/>
                </a:solidFill>
                <a:latin typeface="Arial"/>
                <a:ea typeface="Arial"/>
                <a:cs typeface="Arial"/>
              </a:rPr>
              <a:t>INPUT → LEARNING ENGINE → ACTIONABLE STATE</a:t>
            </a:r>
            <a:endParaRPr sz="105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3DD4512-0D25-4821-8981-3FA00228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2590"/>
            <a:ext cx="11810390" cy="305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5B"/>
          </a:solidFill>
          <a:ln xmlns:a="http://schemas.openxmlformats.org/drawingml/2006/main" w="12700">
            <a:solidFill>
              <a:srgbClr val="0077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E538B8B0-B35B-4E3C-BB5F-C16F0C8A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0390" y="6552590"/>
            <a:ext cx="381305" cy="305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513"/>
          </a:solidFill>
          <a:ln xmlns:a="http://schemas.openxmlformats.org/drawingml/2006/main" w="12700">
            <a:solidFill>
              <a:srgbClr val="D5651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699CB54-F353-45C5-AE2B-A7BB38AF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583680"/>
            <a:ext cx="24688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格物致知 · 守正创新</a:t>
            </a:r>
            <a:endParaRPr sz="92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0BDA3F70-E061-45BC-BD9D-0EE7332F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6583680"/>
            <a:ext cx="3703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CLASSLOOP · SUMMER TERM PROPOSAL</a:t>
            </a:r>
            <a:endParaRPr sz="87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977DA28-E04A-4F52-AA94-CC393CE3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2336" y="6565392"/>
            <a:ext cx="329184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7</a:t>
            </a:r>
            <a:endParaRPr sz="950"/>
          </a:p>
        </p:txBody>
      </p:sp>
      <p:sp>
        <p:nvSpPr>
          <p:cNvPr id="79" name="s7-intro">
            <a:extLst xmlns:a="http://schemas.openxmlformats.org/drawingml/2006/main">
              <a:ext uri="{FF2B5EF4-FFF2-40B4-BE49-F238E27FC236}">
                <a16:creationId xmlns:a16="http://schemas.microsoft.com/office/drawing/2014/main" id="{DFEDD17A-EC91-4446-BAF0-F9228F9D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59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B67"/>
                </a:solidFill>
                <a:latin typeface="华文中宋"/>
                <a:ea typeface="华文中宋"/>
                <a:cs typeface="华文中宋"/>
              </a:defRPr>
            </a:pPr>
            <a:r>
              <a:rPr sz="1350" b="0">
                <a:solidFill>
                  <a:srgbClr val="5B6B67"/>
                </a:solidFill>
                <a:latin typeface="华文中宋"/>
                <a:ea typeface="华文中宋"/>
                <a:cs typeface="华文中宋"/>
              </a:rPr>
              <a:t>系统不依赖持续监控，而是把教师提供的课程语境与学生主动行为转成可追溯的认知状态。</a:t>
            </a:r>
          </a:p>
        </p:txBody>
      </p:sp>
      <p:sp>
        <p:nvSpPr>
          <p:cNvPr id="80" name="s7-h-input">
            <a:extLst xmlns:a="http://schemas.openxmlformats.org/drawingml/2006/main">
              <a:ext uri="{FF2B5EF4-FFF2-40B4-BE49-F238E27FC236}">
                <a16:creationId xmlns:a16="http://schemas.microsoft.com/office/drawing/2014/main" id="{8878506D-9913-490B-8D17-0B5E0173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2952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华文中宋"/>
                <a:ea typeface="华文中宋"/>
                <a:cs typeface="华文中宋"/>
              </a:defRPr>
            </a:pPr>
            <a:r>
              <a:rPr sz="1350" b="0">
                <a:solidFill>
                  <a:srgbClr val="FFFFFF"/>
                </a:solidFill>
                <a:latin typeface="华文中宋"/>
                <a:ea typeface="华文中宋"/>
                <a:cs typeface="华文中宋"/>
              </a:rPr>
              <a:t>INPUT｜课堂证据</a:t>
            </a:r>
          </a:p>
        </p:txBody>
      </p:sp>
      <p:sp>
        <p:nvSpPr>
          <p:cNvPr id="81" name="s7-h-engine">
            <a:extLst xmlns:a="http://schemas.openxmlformats.org/drawingml/2006/main">
              <a:ext uri="{FF2B5EF4-FFF2-40B4-BE49-F238E27FC236}">
                <a16:creationId xmlns:a16="http://schemas.microsoft.com/office/drawing/2014/main" id="{209F7A95-88C7-46C2-85EF-4C1FCE8E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62100"/>
            <a:ext cx="2952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56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LEARNING ENGINE</a:t>
            </a:r>
          </a:p>
        </p:txBody>
      </p:sp>
      <p:sp>
        <p:nvSpPr>
          <p:cNvPr id="82" name="s7-h-output">
            <a:extLst xmlns:a="http://schemas.openxmlformats.org/drawingml/2006/main">
              <a:ext uri="{FF2B5EF4-FFF2-40B4-BE49-F238E27FC236}">
                <a16:creationId xmlns:a16="http://schemas.microsoft.com/office/drawing/2014/main" id="{B0383047-5FE4-4A65-9823-7151BDED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62100"/>
            <a:ext cx="33147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8782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华文中宋"/>
                <a:ea typeface="华文中宋"/>
                <a:cs typeface="华文中宋"/>
              </a:defRPr>
            </a:pPr>
            <a:r>
              <a:rPr sz="1350" b="0">
                <a:solidFill>
                  <a:srgbClr val="FFFFFF"/>
                </a:solidFill>
                <a:latin typeface="华文中宋"/>
                <a:ea typeface="华文中宋"/>
                <a:cs typeface="华文中宋"/>
              </a:rPr>
              <a:t>OUTPUT｜可行动状态</a:t>
            </a:r>
          </a:p>
        </p:txBody>
      </p:sp>
      <p:sp>
        <p:nvSpPr>
          <p:cNvPr id="83" name="s7-ih-0">
            <a:extLst xmlns:a="http://schemas.openxmlformats.org/drawingml/2006/main">
              <a:ext uri="{FF2B5EF4-FFF2-40B4-BE49-F238E27FC236}">
                <a16:creationId xmlns:a16="http://schemas.microsoft.com/office/drawing/2014/main" id="{7AEDB4CC-C6EC-41C6-867A-EC0BB436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F6BFF"/>
                </a:solidFill>
                <a:latin typeface="华文中宋"/>
                <a:ea typeface="华文中宋"/>
                <a:cs typeface="华文中宋"/>
              </a:defRPr>
            </a:pPr>
            <a:r>
              <a:rPr sz="1275" b="0">
                <a:solidFill>
                  <a:srgbClr val="2F6BFF"/>
                </a:solidFill>
                <a:latin typeface="华文中宋"/>
                <a:ea typeface="华文中宋"/>
                <a:cs typeface="华文中宋"/>
              </a:rPr>
              <a:t>教师课程数据</a:t>
            </a:r>
          </a:p>
        </p:txBody>
      </p:sp>
      <p:sp>
        <p:nvSpPr>
          <p:cNvPr id="84" name="s7-ib-0">
            <a:extLst xmlns:a="http://schemas.openxmlformats.org/drawingml/2006/main">
              <a:ext uri="{FF2B5EF4-FFF2-40B4-BE49-F238E27FC236}">
                <a16:creationId xmlns:a16="http://schemas.microsoft.com/office/drawing/2014/main" id="{64C5CD19-CCA7-4679-8E33-CEF181B8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952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2302C"/>
                </a:solidFill>
                <a:latin typeface="华文中宋"/>
                <a:ea typeface="华文中宋"/>
                <a:cs typeface="华文中宋"/>
              </a:defRPr>
            </a:pPr>
            <a:r>
              <a:rPr sz="1125" b="0">
                <a:solidFill>
                  <a:srgbClr val="22302C"/>
                </a:solidFill>
                <a:latin typeface="华文中宋"/>
                <a:ea typeface="华文中宋"/>
                <a:cs typeface="华文中宋"/>
              </a:rPr>
              <a:t>课件页、章节、知识点、术语与讲授进度</a:t>
            </a:r>
          </a:p>
        </p:txBody>
      </p:sp>
      <p:sp>
        <p:nvSpPr>
          <p:cNvPr id="85" name="s7-ih-1">
            <a:extLst xmlns:a="http://schemas.openxmlformats.org/drawingml/2006/main">
              <a:ext uri="{FF2B5EF4-FFF2-40B4-BE49-F238E27FC236}">
                <a16:creationId xmlns:a16="http://schemas.microsoft.com/office/drawing/2014/main" id="{95100878-632B-4574-875D-F27B5ACF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A58A"/>
                </a:solidFill>
                <a:latin typeface="华文中宋"/>
                <a:ea typeface="华文中宋"/>
                <a:cs typeface="华文中宋"/>
              </a:defRPr>
            </a:pPr>
            <a:r>
              <a:rPr sz="1275" b="0">
                <a:solidFill>
                  <a:srgbClr val="10A58A"/>
                </a:solidFill>
                <a:latin typeface="华文中宋"/>
                <a:ea typeface="华文中宋"/>
                <a:cs typeface="华文中宋"/>
              </a:rPr>
              <a:t>学生主动证据</a:t>
            </a:r>
          </a:p>
        </p:txBody>
      </p:sp>
      <p:sp>
        <p:nvSpPr>
          <p:cNvPr id="86" name="s7-ib-1">
            <a:extLst xmlns:a="http://schemas.openxmlformats.org/drawingml/2006/main">
              <a:ext uri="{FF2B5EF4-FFF2-40B4-BE49-F238E27FC236}">
                <a16:creationId xmlns:a16="http://schemas.microsoft.com/office/drawing/2014/main" id="{298869D6-ECDB-44E2-9FCA-12559C2D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2952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5F7F3"/>
          </a:solidFill>
          <a:ln xmlns:a="http://schemas.openxmlformats.org/drawingml/2006/main" w="9525">
            <a:solidFill>
              <a:srgbClr val="10A58A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2302C"/>
                </a:solidFill>
                <a:latin typeface="华文中宋"/>
                <a:ea typeface="华文中宋"/>
                <a:cs typeface="华文中宋"/>
              </a:defRPr>
            </a:pPr>
            <a:r>
              <a:rPr sz="1125" b="0">
                <a:solidFill>
                  <a:srgbClr val="22302C"/>
                </a:solidFill>
                <a:latin typeface="华文中宋"/>
                <a:ea typeface="华文中宋"/>
                <a:cs typeface="华文中宋"/>
              </a:rPr>
              <a:t>答案、耗时、提问、提示、前测与复测</a:t>
            </a:r>
          </a:p>
        </p:txBody>
      </p:sp>
      <p:sp>
        <p:nvSpPr>
          <p:cNvPr id="87" name="s7-ih-2">
            <a:extLst xmlns:a="http://schemas.openxmlformats.org/drawingml/2006/main">
              <a:ext uri="{FF2B5EF4-FFF2-40B4-BE49-F238E27FC236}">
                <a16:creationId xmlns:a16="http://schemas.microsoft.com/office/drawing/2014/main" id="{AA7F7596-08B6-405A-B50D-7529BD1F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87822"/>
                </a:solidFill>
                <a:latin typeface="华文中宋"/>
                <a:ea typeface="华文中宋"/>
                <a:cs typeface="华文中宋"/>
              </a:defRPr>
            </a:pPr>
            <a:r>
              <a:rPr sz="1275" b="0">
                <a:solidFill>
                  <a:srgbClr val="E87822"/>
                </a:solidFill>
                <a:latin typeface="华文中宋"/>
                <a:ea typeface="华文中宋"/>
                <a:cs typeface="华文中宋"/>
              </a:rPr>
              <a:t>课堂上下文</a:t>
            </a:r>
          </a:p>
        </p:txBody>
      </p:sp>
      <p:sp>
        <p:nvSpPr>
          <p:cNvPr id="88" name="s7-ib-2">
            <a:extLst xmlns:a="http://schemas.openxmlformats.org/drawingml/2006/main">
              <a:ext uri="{FF2B5EF4-FFF2-40B4-BE49-F238E27FC236}">
                <a16:creationId xmlns:a16="http://schemas.microsoft.com/office/drawing/2014/main" id="{E4E75362-BB36-483D-B82B-153BA12A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2952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9525">
            <a:solidFill>
              <a:srgbClr val="E87822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2302C"/>
                </a:solidFill>
                <a:latin typeface="华文中宋"/>
                <a:ea typeface="华文中宋"/>
                <a:cs typeface="华文中宋"/>
              </a:defRPr>
            </a:pPr>
            <a:r>
              <a:rPr sz="1125" b="0">
                <a:solidFill>
                  <a:srgbClr val="22302C"/>
                </a:solidFill>
                <a:latin typeface="华文中宋"/>
                <a:ea typeface="华文中宋"/>
                <a:cs typeface="华文中宋"/>
              </a:rPr>
              <a:t>Session、时间戳、题目与干预事件</a:t>
            </a:r>
          </a:p>
        </p:txBody>
      </p:sp>
      <p:sp>
        <p:nvSpPr>
          <p:cNvPr id="89" name="s7-eng-0">
            <a:extLst xmlns:a="http://schemas.openxmlformats.org/drawingml/2006/main">
              <a:ext uri="{FF2B5EF4-FFF2-40B4-BE49-F238E27FC236}">
                <a16:creationId xmlns:a16="http://schemas.microsoft.com/office/drawing/2014/main" id="{9C88E44A-6E2A-4481-9116-3028179F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76450"/>
            <a:ext cx="2952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2302C"/>
                </a:solidFill>
                <a:latin typeface="华文中宋"/>
                <a:ea typeface="华文中宋"/>
                <a:cs typeface="华文中宋"/>
              </a:defRPr>
            </a:pPr>
            <a:r>
              <a:rPr sz="1200" b="0">
                <a:solidFill>
                  <a:srgbClr val="22302C"/>
                </a:solidFill>
                <a:latin typeface="华文中宋"/>
                <a:ea typeface="华文中宋"/>
                <a:cs typeface="华文中宋"/>
              </a:rPr>
              <a:t>文档解析与课位同步</a:t>
            </a:r>
          </a:p>
        </p:txBody>
      </p:sp>
      <p:sp>
        <p:nvSpPr>
          <p:cNvPr id="90" name="s7-eng-1">
            <a:extLst xmlns:a="http://schemas.openxmlformats.org/drawingml/2006/main">
              <a:ext uri="{FF2B5EF4-FFF2-40B4-BE49-F238E27FC236}">
                <a16:creationId xmlns:a16="http://schemas.microsoft.com/office/drawing/2014/main" id="{AB62C860-8253-4A1C-9152-806DC6B6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05100"/>
            <a:ext cx="2952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9F5F1"/>
          </a:solidFill>
          <a:ln xmlns:a="http://schemas.openxmlformats.org/drawingml/2006/main" w="9525">
            <a:solidFill>
              <a:srgbClr val="087A5B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2302C"/>
                </a:solidFill>
                <a:latin typeface="华文中宋"/>
                <a:ea typeface="华文中宋"/>
                <a:cs typeface="华文中宋"/>
              </a:defRPr>
            </a:pPr>
            <a:r>
              <a:rPr sz="1200" b="0">
                <a:solidFill>
                  <a:srgbClr val="22302C"/>
                </a:solidFill>
                <a:latin typeface="华文中宋"/>
                <a:ea typeface="华文中宋"/>
                <a:cs typeface="华文中宋"/>
              </a:rPr>
              <a:t>Tutor：按教师策略解释</a:t>
            </a:r>
          </a:p>
        </p:txBody>
      </p:sp>
      <p:sp>
        <p:nvSpPr>
          <p:cNvPr id="91" name="s7-eng-2">
            <a:extLst xmlns:a="http://schemas.openxmlformats.org/drawingml/2006/main">
              <a:ext uri="{FF2B5EF4-FFF2-40B4-BE49-F238E27FC236}">
                <a16:creationId xmlns:a16="http://schemas.microsoft.com/office/drawing/2014/main" id="{FB91312A-696E-4790-B25D-00C2684F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33750"/>
            <a:ext cx="2952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9525">
            <a:solidFill>
              <a:srgbClr val="E87822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2302C"/>
                </a:solidFill>
                <a:latin typeface="华文中宋"/>
                <a:ea typeface="华文中宋"/>
                <a:cs typeface="华文中宋"/>
              </a:defRPr>
            </a:pPr>
            <a:r>
              <a:rPr sz="1200" b="0">
                <a:solidFill>
                  <a:srgbClr val="22302C"/>
                </a:solidFill>
                <a:latin typeface="华文中宋"/>
                <a:ea typeface="华文中宋"/>
                <a:cs typeface="华文中宋"/>
              </a:rPr>
              <a:t>Misconception Engine：识别误区</a:t>
            </a:r>
          </a:p>
        </p:txBody>
      </p:sp>
      <p:sp>
        <p:nvSpPr>
          <p:cNvPr id="92" name="s7-eng-3">
            <a:extLst xmlns:a="http://schemas.openxmlformats.org/drawingml/2006/main">
              <a:ext uri="{FF2B5EF4-FFF2-40B4-BE49-F238E27FC236}">
                <a16:creationId xmlns:a16="http://schemas.microsoft.com/office/drawing/2014/main" id="{2FB7EA90-CA2C-4510-AB1B-6B7A9C12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62400"/>
            <a:ext cx="2952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0ECFB"/>
          </a:solidFill>
          <a:ln xmlns:a="http://schemas.openxmlformats.org/drawingml/2006/main" w="9525">
            <a:solidFill>
              <a:srgbClr val="7957D5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2302C"/>
                </a:solidFill>
                <a:latin typeface="华文中宋"/>
                <a:ea typeface="华文中宋"/>
                <a:cs typeface="华文中宋"/>
              </a:defRPr>
            </a:pPr>
            <a:r>
              <a:rPr sz="1200" b="0">
                <a:solidFill>
                  <a:srgbClr val="22302C"/>
                </a:solidFill>
                <a:latin typeface="华文中宋"/>
                <a:ea typeface="华文中宋"/>
                <a:cs typeface="华文中宋"/>
              </a:rPr>
              <a:t>Knowledge Graph：传播依赖</a:t>
            </a:r>
          </a:p>
        </p:txBody>
      </p:sp>
      <p:sp>
        <p:nvSpPr>
          <p:cNvPr id="93" name="s7-eng-4">
            <a:extLst xmlns:a="http://schemas.openxmlformats.org/drawingml/2006/main">
              <a:ext uri="{FF2B5EF4-FFF2-40B4-BE49-F238E27FC236}">
                <a16:creationId xmlns:a16="http://schemas.microsoft.com/office/drawing/2014/main" id="{77EB6825-5A00-4F5B-8EE4-40B83567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91050"/>
            <a:ext cx="2952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5F7F3"/>
          </a:solidFill>
          <a:ln xmlns:a="http://schemas.openxmlformats.org/drawingml/2006/main" w="9525">
            <a:solidFill>
              <a:srgbClr val="10A58A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2302C"/>
                </a:solidFill>
                <a:latin typeface="华文中宋"/>
                <a:ea typeface="华文中宋"/>
                <a:cs typeface="华文中宋"/>
              </a:defRPr>
            </a:pPr>
            <a:r>
              <a:rPr sz="1200" b="0">
                <a:solidFill>
                  <a:srgbClr val="22302C"/>
                </a:solidFill>
                <a:latin typeface="华文中宋"/>
                <a:ea typeface="华文中宋"/>
                <a:cs typeface="华文中宋"/>
              </a:rPr>
              <a:t>Class Aggregator：班级聚合</a:t>
            </a:r>
          </a:p>
        </p:txBody>
      </p:sp>
      <p:sp>
        <p:nvSpPr>
          <p:cNvPr id="94" name="s7-oh-0">
            <a:extLst xmlns:a="http://schemas.openxmlformats.org/drawingml/2006/main">
              <a:ext uri="{FF2B5EF4-FFF2-40B4-BE49-F238E27FC236}">
                <a16:creationId xmlns:a16="http://schemas.microsoft.com/office/drawing/2014/main" id="{29E12185-BE48-421D-A2B3-20D81DBB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95500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F6BFF"/>
                </a:solidFill>
                <a:latin typeface="华文中宋"/>
                <a:ea typeface="华文中宋"/>
                <a:cs typeface="华文中宋"/>
              </a:defRPr>
            </a:pPr>
            <a:r>
              <a:rPr sz="1275" b="0">
                <a:solidFill>
                  <a:srgbClr val="2F6BFF"/>
                </a:solidFill>
                <a:latin typeface="华文中宋"/>
                <a:ea typeface="华文中宋"/>
                <a:cs typeface="华文中宋"/>
              </a:rPr>
              <a:t>学生态</a:t>
            </a:r>
          </a:p>
        </p:txBody>
      </p:sp>
      <p:sp>
        <p:nvSpPr>
          <p:cNvPr id="95" name="s7-ob-0">
            <a:extLst xmlns:a="http://schemas.openxmlformats.org/drawingml/2006/main">
              <a:ext uri="{FF2B5EF4-FFF2-40B4-BE49-F238E27FC236}">
                <a16:creationId xmlns:a16="http://schemas.microsoft.com/office/drawing/2014/main" id="{7BCA12E3-C9A8-4DCC-8760-B1550722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81250"/>
            <a:ext cx="33147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2302C"/>
                </a:solidFill>
                <a:latin typeface="华文中宋"/>
                <a:ea typeface="华文中宋"/>
                <a:cs typeface="华文中宋"/>
              </a:defRPr>
            </a:pPr>
            <a:r>
              <a:rPr sz="1125" b="0">
                <a:solidFill>
                  <a:srgbClr val="22302C"/>
                </a:solidFill>
                <a:latin typeface="华文中宋"/>
                <a:ea typeface="华文中宋"/>
                <a:cs typeface="华文中宋"/>
              </a:rPr>
              <a:t>掌握度、误区、证据与置信状态</a:t>
            </a:r>
          </a:p>
        </p:txBody>
      </p:sp>
      <p:sp>
        <p:nvSpPr>
          <p:cNvPr id="96" name="s7-oh-1">
            <a:extLst xmlns:a="http://schemas.openxmlformats.org/drawingml/2006/main">
              <a:ext uri="{FF2B5EF4-FFF2-40B4-BE49-F238E27FC236}">
                <a16:creationId xmlns:a16="http://schemas.microsoft.com/office/drawing/2014/main" id="{B6254EB0-5D27-47C1-9584-B052EA2B8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67050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87822"/>
                </a:solidFill>
                <a:latin typeface="华文中宋"/>
                <a:ea typeface="华文中宋"/>
                <a:cs typeface="华文中宋"/>
              </a:defRPr>
            </a:pPr>
            <a:r>
              <a:rPr sz="1275" b="0">
                <a:solidFill>
                  <a:srgbClr val="E87822"/>
                </a:solidFill>
                <a:latin typeface="华文中宋"/>
                <a:ea typeface="华文中宋"/>
                <a:cs typeface="华文中宋"/>
              </a:rPr>
              <a:t>班级态</a:t>
            </a:r>
          </a:p>
        </p:txBody>
      </p:sp>
      <p:sp>
        <p:nvSpPr>
          <p:cNvPr id="97" name="s7-ob-1">
            <a:extLst xmlns:a="http://schemas.openxmlformats.org/drawingml/2006/main">
              <a:ext uri="{FF2B5EF4-FFF2-40B4-BE49-F238E27FC236}">
                <a16:creationId xmlns:a16="http://schemas.microsoft.com/office/drawing/2014/main" id="{DF7FAC9F-DC9E-431D-BB8C-E6512FF6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52800"/>
            <a:ext cx="33147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9525">
            <a:solidFill>
              <a:srgbClr val="E87822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2302C"/>
                </a:solidFill>
                <a:latin typeface="华文中宋"/>
                <a:ea typeface="华文中宋"/>
                <a:cs typeface="华文中宋"/>
              </a:defRPr>
            </a:pPr>
            <a:r>
              <a:rPr sz="1125" b="0">
                <a:solidFill>
                  <a:srgbClr val="22302C"/>
                </a:solidFill>
                <a:latin typeface="华文中宋"/>
                <a:ea typeface="华文中宋"/>
                <a:cs typeface="华文中宋"/>
              </a:rPr>
              <a:t>Top 误区、影响人数、紧急度与知识依赖</a:t>
            </a:r>
          </a:p>
        </p:txBody>
      </p:sp>
      <p:sp>
        <p:nvSpPr>
          <p:cNvPr id="98" name="s7-oh-2">
            <a:extLst xmlns:a="http://schemas.openxmlformats.org/drawingml/2006/main">
              <a:ext uri="{FF2B5EF4-FFF2-40B4-BE49-F238E27FC236}">
                <a16:creationId xmlns:a16="http://schemas.microsoft.com/office/drawing/2014/main" id="{D8090F33-27A0-40E6-83FB-01C1459C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38600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87A5B"/>
                </a:solidFill>
                <a:latin typeface="华文中宋"/>
                <a:ea typeface="华文中宋"/>
                <a:cs typeface="华文中宋"/>
              </a:defRPr>
            </a:pPr>
            <a:r>
              <a:rPr sz="1275" b="0">
                <a:solidFill>
                  <a:srgbClr val="087A5B"/>
                </a:solidFill>
                <a:latin typeface="华文中宋"/>
                <a:ea typeface="华文中宋"/>
                <a:cs typeface="华文中宋"/>
              </a:rPr>
              <a:t>教师决策</a:t>
            </a:r>
          </a:p>
        </p:txBody>
      </p:sp>
      <p:sp>
        <p:nvSpPr>
          <p:cNvPr id="99" name="s7-ob-2">
            <a:extLst xmlns:a="http://schemas.openxmlformats.org/drawingml/2006/main">
              <a:ext uri="{FF2B5EF4-FFF2-40B4-BE49-F238E27FC236}">
                <a16:creationId xmlns:a16="http://schemas.microsoft.com/office/drawing/2014/main" id="{68C78E5C-522E-4F8E-B9A0-9CFED05C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24350"/>
            <a:ext cx="33147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9F5F1"/>
          </a:solidFill>
          <a:ln xmlns:a="http://schemas.openxmlformats.org/drawingml/2006/main" w="9525">
            <a:solidFill>
              <a:srgbClr val="087A5B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2302C"/>
                </a:solidFill>
                <a:latin typeface="华文中宋"/>
                <a:ea typeface="华文中宋"/>
                <a:cs typeface="华文中宋"/>
              </a:defRPr>
            </a:pPr>
            <a:r>
              <a:rPr sz="1125" b="0">
                <a:solidFill>
                  <a:srgbClr val="22302C"/>
                </a:solidFill>
                <a:latin typeface="华文中宋"/>
                <a:ea typeface="华文中宋"/>
                <a:cs typeface="华文中宋"/>
              </a:rPr>
              <a:t>建议干预、复测结果、修复增益与未修复范围</a:t>
            </a:r>
          </a:p>
        </p:txBody>
      </p:sp>
      <p:sp>
        <p:nvSpPr>
          <p:cNvPr id="100" name="s7-arr1">
            <a:extLst xmlns:a="http://schemas.openxmlformats.org/drawingml/2006/main">
              <a:ext uri="{FF2B5EF4-FFF2-40B4-BE49-F238E27FC236}">
                <a16:creationId xmlns:a16="http://schemas.microsoft.com/office/drawing/2014/main" id="{18DA3CEB-1A9A-4570-85D1-A29274D1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432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087A5B"/>
                </a:solidFill>
                <a:latin typeface="华文中宋"/>
                <a:ea typeface="华文中宋"/>
                <a:cs typeface="华文中宋"/>
              </a:defRPr>
            </a:pPr>
            <a:r>
              <a:rPr sz="2100" b="0">
                <a:solidFill>
                  <a:srgbClr val="087A5B"/>
                </a:solidFill>
                <a:latin typeface="华文中宋"/>
                <a:ea typeface="华文中宋"/>
                <a:cs typeface="华文中宋"/>
              </a:rPr>
              <a:t>→</a:t>
            </a:r>
          </a:p>
        </p:txBody>
      </p:sp>
      <p:sp>
        <p:nvSpPr>
          <p:cNvPr id="101" name="s7-arr2">
            <a:extLst xmlns:a="http://schemas.openxmlformats.org/drawingml/2006/main">
              <a:ext uri="{FF2B5EF4-FFF2-40B4-BE49-F238E27FC236}">
                <a16:creationId xmlns:a16="http://schemas.microsoft.com/office/drawing/2014/main" id="{121F2EE0-1F33-48CC-BEF3-B7BA11BB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432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E87822"/>
                </a:solidFill>
                <a:latin typeface="华文中宋"/>
                <a:ea typeface="华文中宋"/>
                <a:cs typeface="华文中宋"/>
              </a:defRPr>
            </a:pPr>
            <a:r>
              <a:rPr sz="2100" b="0">
                <a:solidFill>
                  <a:srgbClr val="E87822"/>
                </a:solidFill>
                <a:latin typeface="华文中宋"/>
                <a:ea typeface="华文中宋"/>
                <a:cs typeface="华文中宋"/>
              </a:rPr>
              <a:t>→</a:t>
            </a:r>
          </a:p>
        </p:txBody>
      </p:sp>
      <p:sp>
        <p:nvSpPr>
          <p:cNvPr id="102" name="s7-boundary">
            <a:extLst xmlns:a="http://schemas.openxmlformats.org/drawingml/2006/main">
              <a:ext uri="{FF2B5EF4-FFF2-40B4-BE49-F238E27FC236}">
                <a16:creationId xmlns:a16="http://schemas.microsoft.com/office/drawing/2014/main" id="{DEA2BB31-4D94-4925-8A6E-C86AE66E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591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华文中宋"/>
                <a:ea typeface="华文中宋"/>
                <a:cs typeface="华文中宋"/>
              </a:defRPr>
            </a:pPr>
            <a:r>
              <a:rPr sz="1275" b="0">
                <a:solidFill>
                  <a:srgbClr val="FFFFFF"/>
                </a:solidFill>
                <a:latin typeface="华文中宋"/>
                <a:ea typeface="华文中宋"/>
                <a:cs typeface="华文中宋"/>
              </a:rPr>
              <a:t>上学期复用：文档解析、Tutor、图谱与日志｜本项目新开发：Session、课位同步、误区聚合、班级状态与干预验证</a:t>
            </a:r>
          </a:p>
        </p:txBody>
      </p:sp>
    </p:spTree>
    <p:extLst>
      <p:ext uri="{BB962C8B-B14F-4D97-AF65-F5344CB8AC3E}">
        <p14:creationId xmlns:p14="http://schemas.microsoft.com/office/powerpoint/2010/main" val="19233841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F46E64F-7A7F-4419-87D7-58D8E5D9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" cy="589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5B"/>
          </a:solidFill>
          <a:ln xmlns:a="http://schemas.openxmlformats.org/drawingml/2006/main" w="12700">
            <a:solidFill>
              <a:srgbClr val="0077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F67D40D-ADA2-4CE3-8F1F-51EA7199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" y="0"/>
            <a:ext cx="66751" cy="589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513"/>
          </a:solidFill>
          <a:ln xmlns:a="http://schemas.openxmlformats.org/drawingml/2006/main" w="12700">
            <a:solidFill>
              <a:srgbClr val="D5651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FC9B0A8-4ABD-4308-80DF-CDBFF7AA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175" b="1">
                <a:solidFill>
                  <a:srgbClr val="2230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302C"/>
                </a:solidFill>
                <a:latin typeface="Microsoft YaHei"/>
                <a:ea typeface="Microsoft YaHei"/>
                <a:cs typeface="Microsoft YaHei"/>
              </a:rPr>
              <a:t>MVP：一门课、一个单元、一条完整课堂闭环</a:t>
            </a:r>
            <a:endParaRPr sz="22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E7B1597-BF9B-4B13-8AAA-168DFB53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589788"/>
            <a:ext cx="1111910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9D3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0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23c09fa08042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48672" y="137160"/>
            <a:ext cx="1563624" cy="342900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5CED474-E18C-47CB-8740-E6D504E2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8952"/>
            <a:ext cx="42976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75" b="0">
                <a:solidFill>
                  <a:srgbClr val="E8782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E87822"/>
                </a:solidFill>
                <a:latin typeface="Arial"/>
                <a:ea typeface="Arial"/>
                <a:cs typeface="Arial"/>
              </a:rPr>
              <a:t>MVP SCOPE, DELIVERABLES &amp; ACCEPTANCE</a:t>
            </a:r>
            <a:endParaRPr sz="105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8D92E9B-BBE8-40F3-A0A8-949773D6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2590"/>
            <a:ext cx="11810390" cy="305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5B"/>
          </a:solidFill>
          <a:ln xmlns:a="http://schemas.openxmlformats.org/drawingml/2006/main" w="12700">
            <a:solidFill>
              <a:srgbClr val="0077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EE45C778-58FC-4944-9321-5999CE82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0390" y="6552590"/>
            <a:ext cx="381305" cy="305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513"/>
          </a:solidFill>
          <a:ln xmlns:a="http://schemas.openxmlformats.org/drawingml/2006/main" w="12700">
            <a:solidFill>
              <a:srgbClr val="D5651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DEDFD37-E86F-4573-A9EA-B27DE410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583680"/>
            <a:ext cx="24688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格物致知 · 守正创新</a:t>
            </a:r>
            <a:endParaRPr sz="92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A4175AD6-41AC-47C8-AD57-DC06E09A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6583680"/>
            <a:ext cx="3703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CLASSLOOP · SUMMER TERM PROPOSAL</a:t>
            </a:r>
            <a:endParaRPr sz="87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1A4BB12-9B57-4EB3-9304-C59A69F1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2336" y="6565392"/>
            <a:ext cx="329184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8</a:t>
            </a:r>
            <a:endParaRPr sz="950"/>
          </a:p>
        </p:txBody>
      </p:sp>
      <p:sp>
        <p:nvSpPr>
          <p:cNvPr id="84" name="s8-scope">
            <a:extLst xmlns:a="http://schemas.openxmlformats.org/drawingml/2006/main">
              <a:ext uri="{FF2B5EF4-FFF2-40B4-BE49-F238E27FC236}">
                <a16:creationId xmlns:a16="http://schemas.microsoft.com/office/drawing/2014/main" id="{9180D355-B200-4D87-8F7F-D44B2B63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591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4213D"/>
                </a:solidFill>
                <a:latin typeface="华文中宋"/>
                <a:ea typeface="华文中宋"/>
                <a:cs typeface="华文中宋"/>
              </a:defRPr>
            </a:pPr>
            <a:r>
              <a:rPr sz="1425" b="0">
                <a:solidFill>
                  <a:srgbClr val="14213D"/>
                </a:solidFill>
                <a:latin typeface="华文中宋"/>
                <a:ea typeface="华文中宋"/>
                <a:cs typeface="华文中宋"/>
              </a:rPr>
              <a:t>MVP 范围：1 门课程《数据结构》｜1 个知识单元“树”｜学生端 + 教师端｜1 条完整课堂闭环</a:t>
            </a:r>
          </a:p>
        </p:txBody>
      </p:sp>
      <p:sp>
        <p:nvSpPr>
          <p:cNvPr id="85" name="s8-left-title">
            <a:extLst xmlns:a="http://schemas.openxmlformats.org/drawingml/2006/main">
              <a:ext uri="{FF2B5EF4-FFF2-40B4-BE49-F238E27FC236}">
                <a16:creationId xmlns:a16="http://schemas.microsoft.com/office/drawing/2014/main" id="{26A2F1DC-CCD7-4C06-AF34-8DF2A63D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75642"/>
                </a:solidFill>
                <a:latin typeface="华文中宋"/>
                <a:ea typeface="华文中宋"/>
                <a:cs typeface="华文中宋"/>
              </a:defRPr>
            </a:pPr>
            <a:r>
              <a:rPr sz="1650" b="0">
                <a:solidFill>
                  <a:srgbClr val="075642"/>
                </a:solidFill>
                <a:latin typeface="华文中宋"/>
                <a:ea typeface="华文中宋"/>
                <a:cs typeface="华文中宋"/>
              </a:rPr>
              <a:t>三类可演示交付</a:t>
            </a:r>
          </a:p>
        </p:txBody>
      </p:sp>
      <p:sp>
        <p:nvSpPr>
          <p:cNvPr id="86" name="s8-dh-0">
            <a:extLst xmlns:a="http://schemas.openxmlformats.org/drawingml/2006/main">
              <a:ext uri="{FF2B5EF4-FFF2-40B4-BE49-F238E27FC236}">
                <a16:creationId xmlns:a16="http://schemas.microsoft.com/office/drawing/2014/main" id="{45246D6E-2F0A-45B4-A955-04053B0D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0668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87A5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华文中宋"/>
                <a:ea typeface="华文中宋"/>
                <a:cs typeface="华文中宋"/>
              </a:defRPr>
            </a:pPr>
            <a:r>
              <a:rPr sz="1275" b="0">
                <a:solidFill>
                  <a:srgbClr val="FFFFFF"/>
                </a:solidFill>
                <a:latin typeface="华文中宋"/>
                <a:ea typeface="华文中宋"/>
                <a:cs typeface="华文中宋"/>
              </a:rPr>
              <a:t>教师端</a:t>
            </a:r>
          </a:p>
        </p:txBody>
      </p:sp>
      <p:sp>
        <p:nvSpPr>
          <p:cNvPr id="87" name="s8-db-0">
            <a:extLst xmlns:a="http://schemas.openxmlformats.org/drawingml/2006/main">
              <a:ext uri="{FF2B5EF4-FFF2-40B4-BE49-F238E27FC236}">
                <a16:creationId xmlns:a16="http://schemas.microsoft.com/office/drawing/2014/main" id="{8689E379-7C45-4D2F-AA76-83A82C66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247900"/>
            <a:ext cx="29908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9F5F1"/>
          </a:solidFill>
          <a:ln xmlns:a="http://schemas.openxmlformats.org/drawingml/2006/main" w="9525">
            <a:solidFill>
              <a:srgbClr val="087A5B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2302C"/>
                </a:solidFill>
                <a:latin typeface="华文中宋"/>
                <a:ea typeface="华文中宋"/>
                <a:cs typeface="华文中宋"/>
              </a:defRPr>
            </a:pPr>
            <a:r>
              <a:rPr sz="1125" b="0">
                <a:solidFill>
                  <a:srgbClr val="22302C"/>
                </a:solidFill>
                <a:latin typeface="华文中宋"/>
                <a:ea typeface="华文中宋"/>
                <a:cs typeface="华文中宋"/>
              </a:rPr>
              <a:t>建课、绑定课位、发起微检、查看误区、选择干预、查看复测</a:t>
            </a:r>
          </a:p>
        </p:txBody>
      </p:sp>
      <p:sp>
        <p:nvSpPr>
          <p:cNvPr id="88" name="s8-dh-1">
            <a:extLst xmlns:a="http://schemas.openxmlformats.org/drawingml/2006/main">
              <a:ext uri="{FF2B5EF4-FFF2-40B4-BE49-F238E27FC236}">
                <a16:creationId xmlns:a16="http://schemas.microsoft.com/office/drawing/2014/main" id="{CE8583BB-18C9-43FE-94F4-436460FF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0668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华文中宋"/>
                <a:ea typeface="华文中宋"/>
                <a:cs typeface="华文中宋"/>
              </a:defRPr>
            </a:pPr>
            <a:r>
              <a:rPr sz="1275" b="0">
                <a:solidFill>
                  <a:srgbClr val="FFFFFF"/>
                </a:solidFill>
                <a:latin typeface="华文中宋"/>
                <a:ea typeface="华文中宋"/>
                <a:cs typeface="华文中宋"/>
              </a:rPr>
              <a:t>学生端</a:t>
            </a:r>
          </a:p>
        </p:txBody>
      </p:sp>
      <p:sp>
        <p:nvSpPr>
          <p:cNvPr id="89" name="s8-db-1">
            <a:extLst xmlns:a="http://schemas.openxmlformats.org/drawingml/2006/main">
              <a:ext uri="{FF2B5EF4-FFF2-40B4-BE49-F238E27FC236}">
                <a16:creationId xmlns:a16="http://schemas.microsoft.com/office/drawing/2014/main" id="{82CE11E2-419A-4971-930B-16B2FD69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238500"/>
            <a:ext cx="29908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2302C"/>
                </a:solidFill>
                <a:latin typeface="华文中宋"/>
                <a:ea typeface="华文中宋"/>
                <a:cs typeface="华文中宋"/>
              </a:defRPr>
            </a:pPr>
            <a:r>
              <a:rPr sz="1125" b="0">
                <a:solidFill>
                  <a:srgbClr val="22302C"/>
                </a:solidFill>
                <a:latin typeface="华文中宋"/>
                <a:ea typeface="华文中宋"/>
                <a:cs typeface="华文中宋"/>
              </a:rPr>
              <a:t>加入本节课 Session；作答、提问、针对性解释、复测</a:t>
            </a:r>
          </a:p>
        </p:txBody>
      </p:sp>
      <p:sp>
        <p:nvSpPr>
          <p:cNvPr id="90" name="s8-dh-2">
            <a:extLst xmlns:a="http://schemas.openxmlformats.org/drawingml/2006/main">
              <a:ext uri="{FF2B5EF4-FFF2-40B4-BE49-F238E27FC236}">
                <a16:creationId xmlns:a16="http://schemas.microsoft.com/office/drawing/2014/main" id="{F3675976-7F64-49DF-8B2C-D7C443DF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668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782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6675" tIns="19050" rIns="666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华文中宋"/>
                <a:ea typeface="华文中宋"/>
                <a:cs typeface="华文中宋"/>
              </a:defRPr>
            </a:pPr>
            <a:r>
              <a:rPr sz="1275" b="0">
                <a:solidFill>
                  <a:srgbClr val="FFFFFF"/>
                </a:solidFill>
                <a:latin typeface="华文中宋"/>
                <a:ea typeface="华文中宋"/>
                <a:cs typeface="华文中宋"/>
              </a:rPr>
              <a:t>系统端</a:t>
            </a:r>
          </a:p>
        </p:txBody>
      </p:sp>
      <p:sp>
        <p:nvSpPr>
          <p:cNvPr id="91" name="s8-db-2">
            <a:extLst xmlns:a="http://schemas.openxmlformats.org/drawingml/2006/main">
              <a:ext uri="{FF2B5EF4-FFF2-40B4-BE49-F238E27FC236}">
                <a16:creationId xmlns:a16="http://schemas.microsoft.com/office/drawing/2014/main" id="{16CDCF61-5A8F-4E31-A1B4-F971CEA5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229100"/>
            <a:ext cx="29908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9525">
            <a:solidFill>
              <a:srgbClr val="E87822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2302C"/>
                </a:solidFill>
                <a:latin typeface="华文中宋"/>
                <a:ea typeface="华文中宋"/>
                <a:cs typeface="华文中宋"/>
              </a:defRPr>
            </a:pPr>
            <a:r>
              <a:rPr sz="1125" b="0">
                <a:solidFill>
                  <a:srgbClr val="22302C"/>
                </a:solidFill>
                <a:latin typeface="华文中宋"/>
                <a:ea typeface="华文中宋"/>
                <a:cs typeface="华文中宋"/>
              </a:rPr>
              <a:t>记录证据、聚合误区、生成班级态、计算修复增益</a:t>
            </a:r>
          </a:p>
        </p:txBody>
      </p:sp>
      <p:sp>
        <p:nvSpPr>
          <p:cNvPr id="92" name="s8-right-title">
            <a:extLst xmlns:a="http://schemas.openxmlformats.org/drawingml/2006/main">
              <a:ext uri="{FF2B5EF4-FFF2-40B4-BE49-F238E27FC236}">
                <a16:creationId xmlns:a16="http://schemas.microsoft.com/office/drawing/2014/main" id="{41B1AA31-750F-40BD-AACD-24326D9D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33550"/>
            <a:ext cx="546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75642"/>
                </a:solidFill>
                <a:latin typeface="华文中宋"/>
                <a:ea typeface="华文中宋"/>
                <a:cs typeface="华文中宋"/>
              </a:defRPr>
            </a:pPr>
            <a:r>
              <a:rPr sz="1650" b="0">
                <a:solidFill>
                  <a:srgbClr val="075642"/>
                </a:solidFill>
                <a:latin typeface="华文中宋"/>
                <a:ea typeface="华文中宋"/>
                <a:cs typeface="华文中宋"/>
              </a:rPr>
              <a:t>五项验收标准</a:t>
            </a:r>
          </a:p>
        </p:txBody>
      </p:sp>
      <p:sp>
        <p:nvSpPr>
          <p:cNvPr id="93" name="s8-cn-0">
            <a:extLst xmlns:a="http://schemas.openxmlformats.org/drawingml/2006/main">
              <a:ext uri="{FF2B5EF4-FFF2-40B4-BE49-F238E27FC236}">
                <a16:creationId xmlns:a16="http://schemas.microsoft.com/office/drawing/2014/main" id="{73003B0E-33A7-4A5C-900C-1AB38479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86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4" name="s8-cb-0">
            <a:extLst xmlns:a="http://schemas.openxmlformats.org/drawingml/2006/main">
              <a:ext uri="{FF2B5EF4-FFF2-40B4-BE49-F238E27FC236}">
                <a16:creationId xmlns:a16="http://schemas.microsoft.com/office/drawing/2014/main" id="{B457950E-B869-4671-983F-8CDE55DC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90750"/>
            <a:ext cx="504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6F9F8"/>
          </a:solidFill>
          <a:ln xmlns:a="http://schemas.openxmlformats.org/drawingml/2006/main" w="9525">
            <a:solidFill>
              <a:srgbClr val="D8E2DF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302C"/>
                </a:solidFill>
                <a:latin typeface="华文中宋"/>
                <a:ea typeface="华文中宋"/>
                <a:cs typeface="华文中宋"/>
              </a:defRPr>
            </a:pPr>
            <a:r>
              <a:rPr sz="1200" b="0">
                <a:solidFill>
                  <a:srgbClr val="22302C"/>
                </a:solidFill>
                <a:latin typeface="华文中宋"/>
                <a:ea typeface="华文中宋"/>
                <a:cs typeface="华文中宋"/>
              </a:rPr>
              <a:t>一节课完成 3 次 Micro Check，不明显打断讲授节奏</a:t>
            </a:r>
          </a:p>
        </p:txBody>
      </p:sp>
      <p:sp>
        <p:nvSpPr>
          <p:cNvPr id="95" name="s8-cn-1">
            <a:extLst xmlns:a="http://schemas.openxmlformats.org/drawingml/2006/main">
              <a:ext uri="{FF2B5EF4-FFF2-40B4-BE49-F238E27FC236}">
                <a16:creationId xmlns:a16="http://schemas.microsoft.com/office/drawing/2014/main" id="{6978F8DE-6669-4AE1-9D8C-3B6F7A02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33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58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6" name="s8-cb-1">
            <a:extLst xmlns:a="http://schemas.openxmlformats.org/drawingml/2006/main">
              <a:ext uri="{FF2B5EF4-FFF2-40B4-BE49-F238E27FC236}">
                <a16:creationId xmlns:a16="http://schemas.microsoft.com/office/drawing/2014/main" id="{13A8F580-31EA-45A4-A08F-30393877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38450"/>
            <a:ext cx="504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F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302C"/>
                </a:solidFill>
                <a:latin typeface="华文中宋"/>
                <a:ea typeface="华文中宋"/>
                <a:cs typeface="华文中宋"/>
              </a:defRPr>
            </a:pPr>
            <a:r>
              <a:rPr sz="1200" b="0">
                <a:solidFill>
                  <a:srgbClr val="22302C"/>
                </a:solidFill>
                <a:latin typeface="华文中宋"/>
                <a:ea typeface="华文中宋"/>
                <a:cs typeface="华文中宋"/>
              </a:rPr>
              <a:t>教师端输出 Top 3 班级误区及各自影响人数</a:t>
            </a:r>
          </a:p>
        </p:txBody>
      </p:sp>
      <p:sp>
        <p:nvSpPr>
          <p:cNvPr id="97" name="s8-cn-2">
            <a:extLst xmlns:a="http://schemas.openxmlformats.org/drawingml/2006/main">
              <a:ext uri="{FF2B5EF4-FFF2-40B4-BE49-F238E27FC236}">
                <a16:creationId xmlns:a16="http://schemas.microsoft.com/office/drawing/2014/main" id="{B2C16213-E950-4786-915A-50C8F0A4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81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82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8" name="s8-cb-2">
            <a:extLst xmlns:a="http://schemas.openxmlformats.org/drawingml/2006/main">
              <a:ext uri="{FF2B5EF4-FFF2-40B4-BE49-F238E27FC236}">
                <a16:creationId xmlns:a16="http://schemas.microsoft.com/office/drawing/2014/main" id="{0B4B18E9-7E0A-426B-A8D9-8F6B2A3E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86150"/>
            <a:ext cx="504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6F9F8"/>
          </a:solidFill>
          <a:ln xmlns:a="http://schemas.openxmlformats.org/drawingml/2006/main" w="9525">
            <a:solidFill>
              <a:srgbClr val="D8E2DF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302C"/>
                </a:solidFill>
                <a:latin typeface="华文中宋"/>
                <a:ea typeface="华文中宋"/>
                <a:cs typeface="华文中宋"/>
              </a:defRPr>
            </a:pPr>
            <a:r>
              <a:rPr sz="1200" b="0">
                <a:solidFill>
                  <a:srgbClr val="22302C"/>
                </a:solidFill>
                <a:latin typeface="华文中宋"/>
                <a:ea typeface="华文中宋"/>
                <a:cs typeface="华文中宋"/>
              </a:rPr>
              <a:t>完整演示：初测 → 误区 → 干预 → 复测</a:t>
            </a:r>
          </a:p>
        </p:txBody>
      </p:sp>
      <p:sp>
        <p:nvSpPr>
          <p:cNvPr id="99" name="s8-cn-3">
            <a:extLst xmlns:a="http://schemas.openxmlformats.org/drawingml/2006/main">
              <a:ext uri="{FF2B5EF4-FFF2-40B4-BE49-F238E27FC236}">
                <a16:creationId xmlns:a16="http://schemas.microsoft.com/office/drawing/2014/main" id="{37697D44-6906-427D-A013-BD517185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29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7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0" name="s8-cb-3">
            <a:extLst xmlns:a="http://schemas.openxmlformats.org/drawingml/2006/main">
              <a:ext uri="{FF2B5EF4-FFF2-40B4-BE49-F238E27FC236}">
                <a16:creationId xmlns:a16="http://schemas.microsoft.com/office/drawing/2014/main" id="{522D6453-3C23-4195-ACCB-9AF2BDC4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33850"/>
            <a:ext cx="504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F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302C"/>
                </a:solidFill>
                <a:latin typeface="华文中宋"/>
                <a:ea typeface="华文中宋"/>
                <a:cs typeface="华文中宋"/>
              </a:defRPr>
            </a:pPr>
            <a:r>
              <a:rPr sz="1200" b="0">
                <a:solidFill>
                  <a:srgbClr val="22302C"/>
                </a:solidFill>
                <a:latin typeface="华文中宋"/>
                <a:ea typeface="华文中宋"/>
                <a:cs typeface="华文中宋"/>
              </a:rPr>
              <a:t>每个结论可回溯到学生答案、题目与知识点</a:t>
            </a:r>
          </a:p>
        </p:txBody>
      </p:sp>
      <p:sp>
        <p:nvSpPr>
          <p:cNvPr id="101" name="s8-cn-4">
            <a:extLst xmlns:a="http://schemas.openxmlformats.org/drawingml/2006/main">
              <a:ext uri="{FF2B5EF4-FFF2-40B4-BE49-F238E27FC236}">
                <a16:creationId xmlns:a16="http://schemas.microsoft.com/office/drawing/2014/main" id="{34154A1A-AD95-4220-BC72-C4435E51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76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6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02" name="s8-cb-4">
            <a:extLst xmlns:a="http://schemas.openxmlformats.org/drawingml/2006/main">
              <a:ext uri="{FF2B5EF4-FFF2-40B4-BE49-F238E27FC236}">
                <a16:creationId xmlns:a16="http://schemas.microsoft.com/office/drawing/2014/main" id="{77A169D3-7CBA-47CB-8652-FA78BCBA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81550"/>
            <a:ext cx="504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6F9F8"/>
          </a:solidFill>
          <a:ln xmlns:a="http://schemas.openxmlformats.org/drawingml/2006/main" w="9525">
            <a:solidFill>
              <a:srgbClr val="D8E2DF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302C"/>
                </a:solidFill>
                <a:latin typeface="华文中宋"/>
                <a:ea typeface="华文中宋"/>
                <a:cs typeface="华文中宋"/>
              </a:defRPr>
            </a:pPr>
            <a:r>
              <a:rPr sz="1200" b="0">
                <a:solidFill>
                  <a:srgbClr val="22302C"/>
                </a:solidFill>
                <a:latin typeface="华文中宋"/>
                <a:ea typeface="华文中宋"/>
                <a:cs typeface="华文中宋"/>
              </a:rPr>
              <a:t>不依赖摄像头、麦克风、GPS 或其他传感器</a:t>
            </a:r>
          </a:p>
        </p:txBody>
      </p:sp>
      <p:sp>
        <p:nvSpPr>
          <p:cNvPr id="103" name="s8-close">
            <a:extLst xmlns:a="http://schemas.openxmlformats.org/drawingml/2006/main">
              <a:ext uri="{FF2B5EF4-FFF2-40B4-BE49-F238E27FC236}">
                <a16:creationId xmlns:a16="http://schemas.microsoft.com/office/drawing/2014/main" id="{798EF36D-2EEE-4103-8A33-D515B8BB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5918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756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华文中宋"/>
                <a:ea typeface="华文中宋"/>
                <a:cs typeface="华文中宋"/>
              </a:defRPr>
            </a:pPr>
            <a:r>
              <a:rPr sz="1500" b="0">
                <a:solidFill>
                  <a:srgbClr val="FFFFFF"/>
                </a:solidFill>
                <a:latin typeface="华文中宋"/>
                <a:ea typeface="华文中宋"/>
                <a:cs typeface="华文中宋"/>
              </a:rPr>
              <a:t>本项目要证明：少量、低频的课堂交互，足以让全班理解状态变得可见，并验证教师干预是否真正有效。</a:t>
            </a:r>
          </a:p>
        </p:txBody>
      </p:sp>
    </p:spTree>
    <p:extLst>
      <p:ext uri="{BB962C8B-B14F-4D97-AF65-F5344CB8AC3E}">
        <p14:creationId xmlns:p14="http://schemas.microsoft.com/office/powerpoint/2010/main" val="92395001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华文中宋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华文中宋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2026-08-31T02:36:51.4770000Z</dcterms:created>
  <dcterms:modified xsi:type="dcterms:W3CDTF">2026-08-31T02:36:51.4770000Z</dcterms:modified>
</coreProperties>
</file>