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来源：ClassLoop/README.md；ClassLoop/项目交接与进度说明_2026-09-03.md。封面只概括当前产品定位，不宣称已验证教学效果。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事实依据：ClassLoop 当前三端功能和页级反馈代码。项目痛点与价值属于待验证假设，汇报时不应描述为大规模调研结论。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来源：ClassLoop/frontend/src/components/LearningMaterialPanel.tsx；StudentPageFeedback.tsx；ParticipantView.tsx。页面展示的是已实现的课堂交互链路。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来源：ClassLoop/backend/app/main.py；database.py；document_graph.py；backend/README.md。VentureAgent 为辅助工具，不是最终验收主体。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来源：ClassLoop/frontend/src/components/LearningMaterialPanel.tsx；PresentationPage.tsx；StudentPageFeedback.tsx。界面描述基于当前实现，不代表 PPTX 原页渲染已完整支持。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创新表述基于当前功能机制，属于方案差异判断，不宣称对所有竞品的全面优越性。依据：ClassLoop README 与当前前后端实现。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当前进度依据：ClassLoop/README.md；ClassLoop/项目交接与进度说明_2026-09-03.md；ClassLoop/evidence/v1_freeze/S01_freeze_gate.md。已实现与待补齐严格区分。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下一步安排依据：第一阶段提交说明.pdf 的 G1-G5 门槛，以及 ClassLoop/evidence/v1_freeze/S01_freeze_gate.md。此页不承诺未完成的实验结果。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CC8A407-2872-4E16-8C43-0088E003C2D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069FD6-B39C-4A64-910D-3F432CD190B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33350" cy="5334000"/>
          </a:xfrm>
          <a:prstGeom prst="rect">
            <a:avLst/>
          </a:prstGeom>
          <a:solidFill>
            <a:srgbClr val="0EA5A8"/>
          </a:solidFill>
          <a:ln w="952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9FC06-E406-4F51-A91B-F8BC917E78E7}"/>
              </a:ext>
            </a:extLst>
          </p:cNvPr>
          <p:cNvSpPr>
            <a:spLocks noGrp="1"/>
          </p:cNvSpPr>
          <p:nvPr/>
        </p:nvSpPr>
        <p:spPr>
          <a:xfrm>
            <a:off x="1200150" y="125730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CLASSLOOP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F05E99-8930-4143-8DC6-720E8F6DB0C5}"/>
              </a:ext>
            </a:extLst>
          </p:cNvPr>
          <p:cNvSpPr>
            <a:spLocks noGrp="1"/>
          </p:cNvSpPr>
          <p:nvPr/>
        </p:nvSpPr>
        <p:spPr>
          <a:xfrm>
            <a:off x="1200150" y="1762125"/>
            <a:ext cx="72390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认知反馈课堂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3EAC3A-23E0-4954-A09B-BD070BCA5326}"/>
              </a:ext>
            </a:extLst>
          </p:cNvPr>
          <p:cNvSpPr>
            <a:spLocks noGrp="1"/>
          </p:cNvSpPr>
          <p:nvPr/>
        </p:nvSpPr>
        <p:spPr>
          <a:xfrm>
            <a:off x="1238250" y="2714625"/>
            <a:ext cx="76200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把“教师讲到哪一页”与“学生哪里没听懂”连接起来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B03A01-92D2-4E0A-822C-406E6F3D7FA5}"/>
              </a:ext>
            </a:extLst>
          </p:cNvPr>
          <p:cNvSpPr>
            <a:spLocks noGrp="1"/>
          </p:cNvSpPr>
          <p:nvPr/>
        </p:nvSpPr>
        <p:spPr>
          <a:xfrm>
            <a:off x="1238250" y="5181600"/>
            <a:ext cx="5715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大数据技术课程实践 · 项目简介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06C00BA-70C8-4518-B5B7-0EC9AA91A20D}"/>
              </a:ext>
            </a:extLst>
          </p:cNvPr>
          <p:cNvSpPr>
            <a:spLocks noGrp="1"/>
          </p:cNvSpPr>
          <p:nvPr/>
        </p:nvSpPr>
        <p:spPr>
          <a:xfrm>
            <a:off x="8382000" y="1905000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1769AA"/>
          </a:solidFill>
          <a:ln w="9525">
            <a:solidFill>
              <a:srgbClr val="1769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B6CA02-A1F5-412E-B454-8031A6864C78}"/>
              </a:ext>
            </a:extLst>
          </p:cNvPr>
          <p:cNvSpPr>
            <a:spLocks noGrp="1"/>
          </p:cNvSpPr>
          <p:nvPr/>
        </p:nvSpPr>
        <p:spPr>
          <a:xfrm>
            <a:off x="8382000" y="20193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教师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讲解页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7DA4D61-7647-4843-8624-836E3FF25DA3}"/>
              </a:ext>
            </a:extLst>
          </p:cNvPr>
          <p:cNvSpPr>
            <a:spLocks noGrp="1"/>
          </p:cNvSpPr>
          <p:nvPr/>
        </p:nvSpPr>
        <p:spPr>
          <a:xfrm>
            <a:off x="9810750" y="2857500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0EA5A8"/>
          </a:solidFill>
          <a:ln w="952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CE670B-2E30-4DD1-9815-89E6AADDCC33}"/>
              </a:ext>
            </a:extLst>
          </p:cNvPr>
          <p:cNvSpPr>
            <a:spLocks noGrp="1"/>
          </p:cNvSpPr>
          <p:nvPr/>
        </p:nvSpPr>
        <p:spPr>
          <a:xfrm>
            <a:off x="9810750" y="29718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学生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看同页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D0B3A5D-572F-4A2C-95AB-3EE9ABCDEB9C}"/>
              </a:ext>
            </a:extLst>
          </p:cNvPr>
          <p:cNvSpPr>
            <a:spLocks noGrp="1"/>
          </p:cNvSpPr>
          <p:nvPr/>
        </p:nvSpPr>
        <p:spPr>
          <a:xfrm>
            <a:off x="8382000" y="4191000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E58A2B"/>
          </a:solidFill>
          <a:ln w="9525">
            <a:solidFill>
              <a:srgbClr val="E58A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456E6E-947E-4B45-B13E-29F26BAE15A8}"/>
              </a:ext>
            </a:extLst>
          </p:cNvPr>
          <p:cNvSpPr>
            <a:spLocks noGrp="1"/>
          </p:cNvSpPr>
          <p:nvPr/>
        </p:nvSpPr>
        <p:spPr>
          <a:xfrm>
            <a:off x="8382000" y="43053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即时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反馈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115C500-2C97-4DBA-894A-6980853D8351}"/>
              </a:ext>
            </a:extLst>
          </p:cNvPr>
          <p:cNvSpPr>
            <a:spLocks noGrp="1"/>
          </p:cNvSpPr>
          <p:nvPr/>
        </p:nvSpPr>
        <p:spPr>
          <a:xfrm>
            <a:off x="6953250" y="2857500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974A30-820D-4BF0-BD69-9CEA9DED4B4C}"/>
              </a:ext>
            </a:extLst>
          </p:cNvPr>
          <p:cNvSpPr>
            <a:spLocks noGrp="1"/>
          </p:cNvSpPr>
          <p:nvPr/>
        </p:nvSpPr>
        <p:spPr>
          <a:xfrm>
            <a:off x="6953250" y="29718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教师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调整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5B643E3B-F588-4A1C-B913-6A96F422E752}"/>
              </a:ext>
            </a:extLst>
          </p:cNvPr>
          <p:cNvSpPr>
            <a:spLocks noGrp="1"/>
          </p:cNvSpPr>
          <p:nvPr/>
        </p:nvSpPr>
        <p:spPr>
          <a:xfrm>
            <a:off x="9525000" y="2286000"/>
            <a:ext cx="285750" cy="571500"/>
          </a:xfrm>
          <a:prstGeom prst="line">
            <a:avLst/>
          </a:prstGeom>
          <a:ln w="2857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2B7AADFC-D415-457F-9C70-9CD6F45742A2}"/>
              </a:ext>
            </a:extLst>
          </p:cNvPr>
          <p:cNvSpPr>
            <a:spLocks noGrp="1"/>
          </p:cNvSpPr>
          <p:nvPr/>
        </p:nvSpPr>
        <p:spPr>
          <a:xfrm>
            <a:off x="8953500" y="3600450"/>
            <a:ext cx="857250" cy="590550"/>
          </a:xfrm>
          <a:prstGeom prst="line">
            <a:avLst/>
          </a:prstGeom>
          <a:ln w="2857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1C9BB41E-D48E-47CE-8775-21B61A24E201}"/>
              </a:ext>
            </a:extLst>
          </p:cNvPr>
          <p:cNvSpPr>
            <a:spLocks noGrp="1"/>
          </p:cNvSpPr>
          <p:nvPr/>
        </p:nvSpPr>
        <p:spPr>
          <a:xfrm>
            <a:off x="7524750" y="3600450"/>
            <a:ext cx="857250" cy="590550"/>
          </a:xfrm>
          <a:prstGeom prst="line">
            <a:avLst/>
          </a:prstGeom>
          <a:ln w="2857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11D14859-6D23-47B8-8964-486A9034B18D}"/>
              </a:ext>
            </a:extLst>
          </p:cNvPr>
          <p:cNvSpPr>
            <a:spLocks noGrp="1"/>
          </p:cNvSpPr>
          <p:nvPr/>
        </p:nvSpPr>
        <p:spPr>
          <a:xfrm>
            <a:off x="7524750" y="2286000"/>
            <a:ext cx="857250" cy="571500"/>
          </a:xfrm>
          <a:prstGeom prst="line">
            <a:avLst/>
          </a:prstGeom>
          <a:ln w="2857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79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83B03471-8908-4D80-8F85-51F91BBBE22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01 · 项目定位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A27D56-9A53-454D-9E58-C7B6FF1E0D1A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课堂里真正缺的不是题目，而是反馈位置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E3E31F-7718-479E-BB49-7251C88CB705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1725D27-2C36-4101-A887-DBC361C545B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5D2FAB-27CB-4B0F-B3FE-DBE16E49096E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传统课堂反馈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959D89-5EC0-4E91-82F4-E4EB8A5A1FC7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有人没听懂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B7AA6F-71CD-44C1-9618-43A2B4F2201D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381000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但教师不一定知道：</a:t>
            </a:r>
          </a:p>
          <a:p>
            <a:pPr>
              <a:defRPr sz="16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是哪一页、哪一段、哪一个知识点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95A98CF-91DA-47C1-87D9-78F929D952F0}"/>
              </a:ext>
            </a:extLst>
          </p:cNvPr>
          <p:cNvSpPr>
            <a:spLocks noGrp="1"/>
          </p:cNvSpPr>
          <p:nvPr/>
        </p:nvSpPr>
        <p:spPr>
          <a:xfrm>
            <a:off x="5619750" y="1752600"/>
            <a:ext cx="5334000" cy="3333750"/>
          </a:xfrm>
          <a:prstGeom prst="roundRect">
            <a:avLst>
              <a:gd name="adj" fmla="val 2286"/>
            </a:avLst>
          </a:prstGeom>
          <a:solidFill>
            <a:srgbClr val="F4F8FB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92811D-D193-46DB-B756-40862DFCFC50}"/>
              </a:ext>
            </a:extLst>
          </p:cNvPr>
          <p:cNvSpPr>
            <a:spLocks noGrp="1"/>
          </p:cNvSpPr>
          <p:nvPr/>
        </p:nvSpPr>
        <p:spPr>
          <a:xfrm>
            <a:off x="6076950" y="2076450"/>
            <a:ext cx="4286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课堂反馈的定位尺度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956760C-165C-4426-8F81-01E5EF14EC7D}"/>
              </a:ext>
            </a:extLst>
          </p:cNvPr>
          <p:cNvSpPr>
            <a:spLocks noGrp="1"/>
          </p:cNvSpPr>
          <p:nvPr/>
        </p:nvSpPr>
        <p:spPr>
          <a:xfrm>
            <a:off x="6096000" y="2724150"/>
            <a:ext cx="1524000" cy="457200"/>
          </a:xfrm>
          <a:prstGeom prst="roundRect">
            <a:avLst>
              <a:gd name="adj" fmla="val 16667"/>
            </a:avLst>
          </a:prstGeom>
          <a:solidFill>
            <a:srgbClr val="5B7083"/>
          </a:solidFill>
          <a:ln w="9525">
            <a:solidFill>
              <a:srgbClr val="5B70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F9CC3A-74B5-4B5F-BFA8-1A52077DBCB2}"/>
              </a:ext>
            </a:extLst>
          </p:cNvPr>
          <p:cNvSpPr>
            <a:spLocks noGrp="1"/>
          </p:cNvSpPr>
          <p:nvPr/>
        </p:nvSpPr>
        <p:spPr>
          <a:xfrm>
            <a:off x="6096000" y="279082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课堂整体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5CAE69-F544-4A4C-85CB-9A608D2F24F5}"/>
              </a:ext>
            </a:extLst>
          </p:cNvPr>
          <p:cNvSpPr>
            <a:spLocks noGrp="1"/>
          </p:cNvSpPr>
          <p:nvPr/>
        </p:nvSpPr>
        <p:spPr>
          <a:xfrm>
            <a:off x="7953375" y="279082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知道有人不理解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0CC39EF-37E5-42BB-81B4-E73CEE594DD4}"/>
              </a:ext>
            </a:extLst>
          </p:cNvPr>
          <p:cNvSpPr>
            <a:spLocks noGrp="1"/>
          </p:cNvSpPr>
          <p:nvPr/>
        </p:nvSpPr>
        <p:spPr>
          <a:xfrm>
            <a:off x="6096000" y="3448050"/>
            <a:ext cx="1524000" cy="457200"/>
          </a:xfrm>
          <a:prstGeom prst="roundRect">
            <a:avLst>
              <a:gd name="adj" fmla="val 16667"/>
            </a:avLst>
          </a:prstGeom>
          <a:solidFill>
            <a:srgbClr val="1769AA"/>
          </a:solidFill>
          <a:ln w="9525">
            <a:solidFill>
              <a:srgbClr val="1769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1B3C0F-C6E0-423F-B51B-90C4B8B75216}"/>
              </a:ext>
            </a:extLst>
          </p:cNvPr>
          <p:cNvSpPr>
            <a:spLocks noGrp="1"/>
          </p:cNvSpPr>
          <p:nvPr/>
        </p:nvSpPr>
        <p:spPr>
          <a:xfrm>
            <a:off x="6096000" y="351472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题目层面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21BFBF-796C-4A48-81B4-F13388648B2C}"/>
              </a:ext>
            </a:extLst>
          </p:cNvPr>
          <p:cNvSpPr>
            <a:spLocks noGrp="1"/>
          </p:cNvSpPr>
          <p:nvPr/>
        </p:nvSpPr>
        <p:spPr>
          <a:xfrm>
            <a:off x="7953375" y="351472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知道哪道题答错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8AC5451-B9E2-4D01-8B9B-86AD6A1DD55F}"/>
              </a:ext>
            </a:extLst>
          </p:cNvPr>
          <p:cNvSpPr>
            <a:spLocks noGrp="1"/>
          </p:cNvSpPr>
          <p:nvPr/>
        </p:nvSpPr>
        <p:spPr>
          <a:xfrm>
            <a:off x="6096000" y="4171950"/>
            <a:ext cx="1524000" cy="457200"/>
          </a:xfrm>
          <a:prstGeom prst="roundRect">
            <a:avLst>
              <a:gd name="adj" fmla="val 16667"/>
            </a:avLst>
          </a:prstGeom>
          <a:solidFill>
            <a:srgbClr val="0EA5A8"/>
          </a:solidFill>
          <a:ln w="952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50ED55-5632-4326-9716-F0548C0D6D03}"/>
              </a:ext>
            </a:extLst>
          </p:cNvPr>
          <p:cNvSpPr>
            <a:spLocks noGrp="1"/>
          </p:cNvSpPr>
          <p:nvPr/>
        </p:nvSpPr>
        <p:spPr>
          <a:xfrm>
            <a:off x="6096000" y="423862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课件页级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041768-5C58-4B0D-8B95-47085FE0EB20}"/>
              </a:ext>
            </a:extLst>
          </p:cNvPr>
          <p:cNvSpPr>
            <a:spLocks noGrp="1"/>
          </p:cNvSpPr>
          <p:nvPr/>
        </p:nvSpPr>
        <p:spPr>
          <a:xfrm>
            <a:off x="7953375" y="423862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知道当前讲到哪一页卡住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C8BFBD-4983-41AC-8D6F-BF55892C9C9A}"/>
              </a:ext>
            </a:extLst>
          </p:cNvPr>
          <p:cNvSpPr>
            <a:spLocks noGrp="1"/>
          </p:cNvSpPr>
          <p:nvPr/>
        </p:nvSpPr>
        <p:spPr>
          <a:xfrm>
            <a:off x="838200" y="53911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项目边界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266FF3-5EAE-425F-9EE9-DBD2A7BA05D5}"/>
              </a:ext>
            </a:extLst>
          </p:cNvPr>
          <p:cNvSpPr>
            <a:spLocks noGrp="1"/>
          </p:cNvSpPr>
          <p:nvPr/>
        </p:nvSpPr>
        <p:spPr>
          <a:xfrm>
            <a:off x="2286000" y="5334000"/>
            <a:ext cx="8286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面向同步理论课堂的教师与当前课堂学生，不替代教师，也不把演示数据当作教学效果证据。</a:t>
            </a:r>
          </a:p>
        </p:txBody>
      </p:sp>
    </p:spTree>
    <p:extLst>
      <p:ext uri="{BB962C8B-B14F-4D97-AF65-F5344CB8AC3E}">
        <p14:creationId xmlns:p14="http://schemas.microsoft.com/office/powerpoint/2010/main" val="2111416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463FDE3-DAE9-408A-BA26-D2A233BC461C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02 · 使用场景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5E0007-450D-490E-8BFF-963FCD75912A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一节数据结构课里的实时反馈闭环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5753E1-F12C-40F5-8AAC-07F25A5508E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4D979961-2072-4F96-9DB7-C2B24702D8E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BFA515C-4624-478A-BD96-1A841932396A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2266950" cy="24765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824C8D-404F-4B1A-977A-F449181EE81F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E8EDE9-CBF6-49CB-96E8-E1F163BEACAB}"/>
              </a:ext>
            </a:extLst>
          </p:cNvPr>
          <p:cNvSpPr>
            <a:spLocks noGrp="1"/>
          </p:cNvSpPr>
          <p:nvPr/>
        </p:nvSpPr>
        <p:spPr>
          <a:xfrm>
            <a:off x="990600" y="2838450"/>
            <a:ext cx="18478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教师上传课件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451604-DFF1-454F-B34F-2F3999DE2D02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18478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PDF/PPTX 进入课堂，系统记录课件页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1015C7-5086-4FA6-866B-54DDB8189D4C}"/>
              </a:ext>
            </a:extLst>
          </p:cNvPr>
          <p:cNvSpPr>
            <a:spLocks noGrp="1"/>
          </p:cNvSpPr>
          <p:nvPr/>
        </p:nvSpPr>
        <p:spPr>
          <a:xfrm>
            <a:off x="3133725" y="29908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324E2C1-754C-4B31-81E6-A06FC6869B31}"/>
              </a:ext>
            </a:extLst>
          </p:cNvPr>
          <p:cNvSpPr>
            <a:spLocks noGrp="1"/>
          </p:cNvSpPr>
          <p:nvPr/>
        </p:nvSpPr>
        <p:spPr>
          <a:xfrm>
            <a:off x="3495675" y="2038350"/>
            <a:ext cx="2266950" cy="24765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8AC9E9-477D-4852-96A3-2C930CD3CFD5}"/>
              </a:ext>
            </a:extLst>
          </p:cNvPr>
          <p:cNvSpPr>
            <a:spLocks noGrp="1"/>
          </p:cNvSpPr>
          <p:nvPr/>
        </p:nvSpPr>
        <p:spPr>
          <a:xfrm>
            <a:off x="3705225" y="22479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43357A-D9DA-44E1-BD77-B66F7DD350D4}"/>
              </a:ext>
            </a:extLst>
          </p:cNvPr>
          <p:cNvSpPr>
            <a:spLocks noGrp="1"/>
          </p:cNvSpPr>
          <p:nvPr/>
        </p:nvSpPr>
        <p:spPr>
          <a:xfrm>
            <a:off x="3705225" y="2838450"/>
            <a:ext cx="18478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教师控制页码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CE54D5-3A29-4483-8106-E8BD19FF77A3}"/>
              </a:ext>
            </a:extLst>
          </p:cNvPr>
          <p:cNvSpPr>
            <a:spLocks noGrp="1"/>
          </p:cNvSpPr>
          <p:nvPr/>
        </p:nvSpPr>
        <p:spPr>
          <a:xfrm>
            <a:off x="3705225" y="3371850"/>
            <a:ext cx="18478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上一页、输入页码、下一页，统一共享状态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0E7E37-C845-4582-8143-52CC01A4F94F}"/>
              </a:ext>
            </a:extLst>
          </p:cNvPr>
          <p:cNvSpPr>
            <a:spLocks noGrp="1"/>
          </p:cNvSpPr>
          <p:nvPr/>
        </p:nvSpPr>
        <p:spPr>
          <a:xfrm>
            <a:off x="5848350" y="29908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D91FA99-0EA1-4787-95B5-CFE61DEE2F99}"/>
              </a:ext>
            </a:extLst>
          </p:cNvPr>
          <p:cNvSpPr>
            <a:spLocks noGrp="1"/>
          </p:cNvSpPr>
          <p:nvPr/>
        </p:nvSpPr>
        <p:spPr>
          <a:xfrm>
            <a:off x="6210300" y="2038350"/>
            <a:ext cx="2266950" cy="24765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07210E-B39B-4C53-9356-0F9A2D46B41C}"/>
              </a:ext>
            </a:extLst>
          </p:cNvPr>
          <p:cNvSpPr>
            <a:spLocks noGrp="1"/>
          </p:cNvSpPr>
          <p:nvPr/>
        </p:nvSpPr>
        <p:spPr>
          <a:xfrm>
            <a:off x="6419850" y="22479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C49C8E-A34A-4CA8-B02D-C50609CDC6F7}"/>
              </a:ext>
            </a:extLst>
          </p:cNvPr>
          <p:cNvSpPr>
            <a:spLocks noGrp="1"/>
          </p:cNvSpPr>
          <p:nvPr/>
        </p:nvSpPr>
        <p:spPr>
          <a:xfrm>
            <a:off x="6419850" y="2838450"/>
            <a:ext cx="18478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学生跟随反馈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2C7673-0081-4AB3-9972-B67817C4CFA9}"/>
              </a:ext>
            </a:extLst>
          </p:cNvPr>
          <p:cNvSpPr>
            <a:spLocks noGrp="1"/>
          </p:cNvSpPr>
          <p:nvPr/>
        </p:nvSpPr>
        <p:spPr>
          <a:xfrm>
            <a:off x="6419850" y="3371850"/>
            <a:ext cx="18478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学生看到同一页，匿名点击“这里没听懂”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3C2399-D5BF-4D10-986E-2A3CE3CF5FCE}"/>
              </a:ext>
            </a:extLst>
          </p:cNvPr>
          <p:cNvSpPr>
            <a:spLocks noGrp="1"/>
          </p:cNvSpPr>
          <p:nvPr/>
        </p:nvSpPr>
        <p:spPr>
          <a:xfrm>
            <a:off x="8562975" y="29908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4A746F5-0EA0-44E0-A49C-3638313ABA88}"/>
              </a:ext>
            </a:extLst>
          </p:cNvPr>
          <p:cNvSpPr>
            <a:spLocks noGrp="1"/>
          </p:cNvSpPr>
          <p:nvPr/>
        </p:nvSpPr>
        <p:spPr>
          <a:xfrm>
            <a:off x="8924925" y="2038350"/>
            <a:ext cx="2266950" cy="24765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8AE4EF-AB87-4C11-978E-9FE4AFFDA333}"/>
              </a:ext>
            </a:extLst>
          </p:cNvPr>
          <p:cNvSpPr>
            <a:spLocks noGrp="1"/>
          </p:cNvSpPr>
          <p:nvPr/>
        </p:nvSpPr>
        <p:spPr>
          <a:xfrm>
            <a:off x="9134475" y="22479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32F6A3-5F42-4ECB-8604-83EB98AD806D}"/>
              </a:ext>
            </a:extLst>
          </p:cNvPr>
          <p:cNvSpPr>
            <a:spLocks noGrp="1"/>
          </p:cNvSpPr>
          <p:nvPr/>
        </p:nvSpPr>
        <p:spPr>
          <a:xfrm>
            <a:off x="9134475" y="2838450"/>
            <a:ext cx="18478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教师即时调整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ABD6BE-A603-4C68-9B9D-0509CFC6E05C}"/>
              </a:ext>
            </a:extLst>
          </p:cNvPr>
          <p:cNvSpPr>
            <a:spLocks noGrp="1"/>
          </p:cNvSpPr>
          <p:nvPr/>
        </p:nvSpPr>
        <p:spPr>
          <a:xfrm>
            <a:off x="9134475" y="3371850"/>
            <a:ext cx="18478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当前页上方出现反馈数量，决定重讲或复测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121B39F-AF55-4B64-BAB9-60D0416AEBAB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10439400" cy="628650"/>
          </a:xfrm>
          <a:prstGeom prst="roundRect">
            <a:avLst>
              <a:gd name="adj" fmla="val 12121"/>
            </a:avLst>
          </a:prstGeom>
          <a:solidFill>
            <a:srgbClr val="102A43"/>
          </a:solidFill>
          <a:ln w="9525">
            <a:solidFill>
              <a:srgbClr val="102A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C6FA4F0-3CBD-4142-873B-0078E67A69EE}"/>
              </a:ext>
            </a:extLst>
          </p:cNvPr>
          <p:cNvSpPr>
            <a:spLocks noGrp="1"/>
          </p:cNvSpPr>
          <p:nvPr/>
        </p:nvSpPr>
        <p:spPr>
          <a:xfrm>
            <a:off x="1066800" y="5381625"/>
            <a:ext cx="9810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核心任务：让教师在讲解过程中，定位并处理学生的理解障碍。</a:t>
            </a:r>
          </a:p>
        </p:txBody>
      </p:sp>
    </p:spTree>
    <p:extLst>
      <p:ext uri="{BB962C8B-B14F-4D97-AF65-F5344CB8AC3E}">
        <p14:creationId xmlns:p14="http://schemas.microsoft.com/office/powerpoint/2010/main" val="1839987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1A50AA2F-C55B-4BD9-A0E0-FBD7FE52F77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04 · 技术架构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21674D-96BA-40A1-A0E0-7923F28A931B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业务事实、教学结构与实时事件分层保存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CE2275-9019-4DFC-AA4F-28116A43A3E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4BB3701-15A1-4CF3-AB66-9D7844CFD34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C42B27B-4D4C-4FD2-A4E0-38C63688F323}"/>
              </a:ext>
            </a:extLst>
          </p:cNvPr>
          <p:cNvSpPr>
            <a:spLocks noGrp="1"/>
          </p:cNvSpPr>
          <p:nvPr/>
        </p:nvSpPr>
        <p:spPr>
          <a:xfrm>
            <a:off x="1047750" y="1695450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1769AA"/>
          </a:solidFill>
          <a:ln w="9525">
            <a:solidFill>
              <a:srgbClr val="1769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3342BC-BA17-4417-959A-B3048E2DC99F}"/>
              </a:ext>
            </a:extLst>
          </p:cNvPr>
          <p:cNvSpPr>
            <a:spLocks noGrp="1"/>
          </p:cNvSpPr>
          <p:nvPr/>
        </p:nvSpPr>
        <p:spPr>
          <a:xfrm>
            <a:off x="1047750" y="17907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前端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1205DEE-0F93-4372-BB5B-190FB456E99B}"/>
              </a:ext>
            </a:extLst>
          </p:cNvPr>
          <p:cNvSpPr>
            <a:spLocks noGrp="1"/>
          </p:cNvSpPr>
          <p:nvPr/>
        </p:nvSpPr>
        <p:spPr>
          <a:xfrm>
            <a:off x="3143250" y="1695450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96054D-1BD2-46F5-B8AA-8E4C4E5AE4D3}"/>
              </a:ext>
            </a:extLst>
          </p:cNvPr>
          <p:cNvSpPr>
            <a:spLocks noGrp="1"/>
          </p:cNvSpPr>
          <p:nvPr/>
        </p:nvSpPr>
        <p:spPr>
          <a:xfrm>
            <a:off x="3467100" y="1790700"/>
            <a:ext cx="7143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React + TypeScript + Vite + Tailwind CSS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3ABBBD-9FE7-4533-9A91-496C65C21925}"/>
              </a:ext>
            </a:extLst>
          </p:cNvPr>
          <p:cNvSpPr>
            <a:spLocks noGrp="1"/>
          </p:cNvSpPr>
          <p:nvPr/>
        </p:nvSpPr>
        <p:spPr>
          <a:xfrm>
            <a:off x="1828800" y="22288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A4C35F8-AA24-4F5A-B974-63CFE2D5E88F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0EA5A8"/>
          </a:solidFill>
          <a:ln w="952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5D2F59-6B4A-4D0C-8D6A-FFDFD053F550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后端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C10734E-BF00-497A-A6A6-193D0D08F97C}"/>
              </a:ext>
            </a:extLst>
          </p:cNvPr>
          <p:cNvSpPr>
            <a:spLocks noGrp="1"/>
          </p:cNvSpPr>
          <p:nvPr/>
        </p:nvSpPr>
        <p:spPr>
          <a:xfrm>
            <a:off x="3143250" y="2476500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5BF6FD-BDD4-48F1-B466-1B14DB93DC96}"/>
              </a:ext>
            </a:extLst>
          </p:cNvPr>
          <p:cNvSpPr>
            <a:spLocks noGrp="1"/>
          </p:cNvSpPr>
          <p:nvPr/>
        </p:nvSpPr>
        <p:spPr>
          <a:xfrm>
            <a:off x="3467100" y="2571750"/>
            <a:ext cx="7143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Python + FastAPI + Uvicorn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33EB08-0E19-4824-99EA-ED315E5D3130}"/>
              </a:ext>
            </a:extLst>
          </p:cNvPr>
          <p:cNvSpPr>
            <a:spLocks noGrp="1"/>
          </p:cNvSpPr>
          <p:nvPr/>
        </p:nvSpPr>
        <p:spPr>
          <a:xfrm>
            <a:off x="1828800" y="30099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CF67C1D-FFF4-4FB6-9230-3F48AF94BA8B}"/>
              </a:ext>
            </a:extLst>
          </p:cNvPr>
          <p:cNvSpPr>
            <a:spLocks noGrp="1"/>
          </p:cNvSpPr>
          <p:nvPr/>
        </p:nvSpPr>
        <p:spPr>
          <a:xfrm>
            <a:off x="1047750" y="3257550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7EC210-DE28-484C-8BFA-441E0C3F1D18}"/>
              </a:ext>
            </a:extLst>
          </p:cNvPr>
          <p:cNvSpPr>
            <a:spLocks noGrp="1"/>
          </p:cNvSpPr>
          <p:nvPr/>
        </p:nvSpPr>
        <p:spPr>
          <a:xfrm>
            <a:off x="1047750" y="33528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业务数据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03637A8-31B0-45BE-BA12-B8045B2C710A}"/>
              </a:ext>
            </a:extLst>
          </p:cNvPr>
          <p:cNvSpPr>
            <a:spLocks noGrp="1"/>
          </p:cNvSpPr>
          <p:nvPr/>
        </p:nvSpPr>
        <p:spPr>
          <a:xfrm>
            <a:off x="3143250" y="3257550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8E666F-7A71-4D57-B9F8-AECB7582B4FA}"/>
              </a:ext>
            </a:extLst>
          </p:cNvPr>
          <p:cNvSpPr>
            <a:spLocks noGrp="1"/>
          </p:cNvSpPr>
          <p:nvPr/>
        </p:nvSpPr>
        <p:spPr>
          <a:xfrm>
            <a:off x="3467100" y="3352800"/>
            <a:ext cx="7143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SQLite：课堂、回答、反馈、原始课件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FEE330-7BE4-4D15-825B-815317B0E719}"/>
              </a:ext>
            </a:extLst>
          </p:cNvPr>
          <p:cNvSpPr>
            <a:spLocks noGrp="1"/>
          </p:cNvSpPr>
          <p:nvPr/>
        </p:nvSpPr>
        <p:spPr>
          <a:xfrm>
            <a:off x="1828800" y="37909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469FD81-FD1B-4688-B764-575499849188}"/>
              </a:ext>
            </a:extLst>
          </p:cNvPr>
          <p:cNvSpPr>
            <a:spLocks noGrp="1"/>
          </p:cNvSpPr>
          <p:nvPr/>
        </p:nvSpPr>
        <p:spPr>
          <a:xfrm>
            <a:off x="1047750" y="4038600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E58A2B"/>
          </a:solidFill>
          <a:ln w="9525">
            <a:solidFill>
              <a:srgbClr val="E58A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783028-8FE5-425E-9A30-5E434F2B78A8}"/>
              </a:ext>
            </a:extLst>
          </p:cNvPr>
          <p:cNvSpPr>
            <a:spLocks noGrp="1"/>
          </p:cNvSpPr>
          <p:nvPr/>
        </p:nvSpPr>
        <p:spPr>
          <a:xfrm>
            <a:off x="1047750" y="41338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结构关系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16D2848-A23E-44DA-A937-8E00634E35BD}"/>
              </a:ext>
            </a:extLst>
          </p:cNvPr>
          <p:cNvSpPr>
            <a:spLocks noGrp="1"/>
          </p:cNvSpPr>
          <p:nvPr/>
        </p:nvSpPr>
        <p:spPr>
          <a:xfrm>
            <a:off x="3143250" y="4038600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0F523DB-13C9-4C0A-B1BD-E23F3AB8D31B}"/>
              </a:ext>
            </a:extLst>
          </p:cNvPr>
          <p:cNvSpPr>
            <a:spLocks noGrp="1"/>
          </p:cNvSpPr>
          <p:nvPr/>
        </p:nvSpPr>
        <p:spPr>
          <a:xfrm>
            <a:off x="3467100" y="4133850"/>
            <a:ext cx="7143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Neo4j：课件—页面—文本块—关键词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21DE8D-6747-4599-858C-40659A992522}"/>
              </a:ext>
            </a:extLst>
          </p:cNvPr>
          <p:cNvSpPr>
            <a:spLocks noGrp="1"/>
          </p:cNvSpPr>
          <p:nvPr/>
        </p:nvSpPr>
        <p:spPr>
          <a:xfrm>
            <a:off x="1828800" y="45720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6F8619F-C3EE-4348-AD47-81B2CB2E6780}"/>
              </a:ext>
            </a:extLst>
          </p:cNvPr>
          <p:cNvSpPr>
            <a:spLocks noGrp="1"/>
          </p:cNvSpPr>
          <p:nvPr/>
        </p:nvSpPr>
        <p:spPr>
          <a:xfrm>
            <a:off x="1047750" y="4819650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102A43"/>
          </a:solidFill>
          <a:ln w="9525">
            <a:solidFill>
              <a:srgbClr val="102A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C1E8CD1-23FC-480E-85F6-9BB780E78F15}"/>
              </a:ext>
            </a:extLst>
          </p:cNvPr>
          <p:cNvSpPr>
            <a:spLocks noGrp="1"/>
          </p:cNvSpPr>
          <p:nvPr/>
        </p:nvSpPr>
        <p:spPr>
          <a:xfrm>
            <a:off x="1047750" y="49149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实时通信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6EA84BE-8AD2-4A1D-ADCE-0F96E4DBBA81}"/>
              </a:ext>
            </a:extLst>
          </p:cNvPr>
          <p:cNvSpPr>
            <a:spLocks noGrp="1"/>
          </p:cNvSpPr>
          <p:nvPr/>
        </p:nvSpPr>
        <p:spPr>
          <a:xfrm>
            <a:off x="3143250" y="4819650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D7C2ACF-40D7-4D05-9377-4CB4039E9BB0}"/>
              </a:ext>
            </a:extLst>
          </p:cNvPr>
          <p:cNvSpPr>
            <a:spLocks noGrp="1"/>
          </p:cNvSpPr>
          <p:nvPr/>
        </p:nvSpPr>
        <p:spPr>
          <a:xfrm>
            <a:off x="3467100" y="4914900"/>
            <a:ext cx="7143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SSE：页码、广播、反馈事件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A36330-EAAF-4F4C-A098-2A3AA6B31A2C}"/>
              </a:ext>
            </a:extLst>
          </p:cNvPr>
          <p:cNvSpPr>
            <a:spLocks noGrp="1"/>
          </p:cNvSpPr>
          <p:nvPr/>
        </p:nvSpPr>
        <p:spPr>
          <a:xfrm>
            <a:off x="1047750" y="58578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关键设计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F912BA6-EC0B-451B-BD36-6E724095D043}"/>
              </a:ext>
            </a:extLst>
          </p:cNvPr>
          <p:cNvSpPr>
            <a:spLocks noGrp="1"/>
          </p:cNvSpPr>
          <p:nvPr/>
        </p:nvSpPr>
        <p:spPr>
          <a:xfrm>
            <a:off x="2343150" y="581025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Neo4j 是结构关系层，不承担账号与课堂业务事实；AI 通过 VentureAgent HTTP Adapter 接入。</a:t>
            </a:r>
          </a:p>
        </p:txBody>
      </p:sp>
    </p:spTree>
    <p:extLst>
      <p:ext uri="{BB962C8B-B14F-4D97-AF65-F5344CB8AC3E}">
        <p14:creationId xmlns:p14="http://schemas.microsoft.com/office/powerpoint/2010/main" val="74705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A686AC7-C198-4934-8D8B-EB9C79BEB66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03 · 产品界面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B55D51-2572-4E09-AF28-EFFACAFEC5D6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教师控制一页，学生跟随一页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3A2528-B38E-47C0-A730-CFB5EF1C2351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E0892F07-14C6-48B1-92AB-87164DAE8DF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C7B5099-0D4F-4E43-A7EC-96693B853C20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371475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B14D5E-240E-456A-8AD6-B083794796A7}"/>
              </a:ext>
            </a:extLst>
          </p:cNvPr>
          <p:cNvSpPr>
            <a:spLocks noGrp="1"/>
          </p:cNvSpPr>
          <p:nvPr/>
        </p:nvSpPr>
        <p:spPr>
          <a:xfrm>
            <a:off x="1047750" y="20383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教师端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F12CF83-8F0F-41A5-8A47-E896AE03C897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10096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5979117-5A2B-4F13-B47C-D9EF257A7E8D}"/>
              </a:ext>
            </a:extLst>
          </p:cNvPr>
          <p:cNvSpPr>
            <a:spLocks noGrp="1"/>
          </p:cNvSpPr>
          <p:nvPr/>
        </p:nvSpPr>
        <p:spPr>
          <a:xfrm>
            <a:off x="1581150" y="2647950"/>
            <a:ext cx="12382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985544-09D4-40A3-8C46-F15D44A3A957}"/>
              </a:ext>
            </a:extLst>
          </p:cNvPr>
          <p:cNvSpPr>
            <a:spLocks noGrp="1"/>
          </p:cNvSpPr>
          <p:nvPr/>
        </p:nvSpPr>
        <p:spPr>
          <a:xfrm>
            <a:off x="1581150" y="268605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上一页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1BD6DB9-7E42-4356-9DBE-B619647068DD}"/>
              </a:ext>
            </a:extLst>
          </p:cNvPr>
          <p:cNvSpPr>
            <a:spLocks noGrp="1"/>
          </p:cNvSpPr>
          <p:nvPr/>
        </p:nvSpPr>
        <p:spPr>
          <a:xfrm>
            <a:off x="4743450" y="2609850"/>
            <a:ext cx="17907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B20581-A38C-4BE3-8583-065B49764EEB}"/>
              </a:ext>
            </a:extLst>
          </p:cNvPr>
          <p:cNvSpPr>
            <a:spLocks noGrp="1"/>
          </p:cNvSpPr>
          <p:nvPr/>
        </p:nvSpPr>
        <p:spPr>
          <a:xfrm>
            <a:off x="4743450" y="2695575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12 / 107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87DBF5-B5AC-4AD0-B5F1-81F532ECB332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12382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6AEA24-48C3-4D3D-838A-7D404F1BEA4E}"/>
              </a:ext>
            </a:extLst>
          </p:cNvPr>
          <p:cNvSpPr>
            <a:spLocks noGrp="1"/>
          </p:cNvSpPr>
          <p:nvPr/>
        </p:nvSpPr>
        <p:spPr>
          <a:xfrm>
            <a:off x="8458200" y="268605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下一页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CA452F-ED98-49D7-806E-3763091F827C}"/>
              </a:ext>
            </a:extLst>
          </p:cNvPr>
          <p:cNvSpPr>
            <a:spLocks noGrp="1"/>
          </p:cNvSpPr>
          <p:nvPr/>
        </p:nvSpPr>
        <p:spPr>
          <a:xfrm>
            <a:off x="3333750" y="3486150"/>
            <a:ext cx="5524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输入页码可随机访问，页码是课堂共享状态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F32CF89-3FF8-4238-B168-139863E19A9F}"/>
              </a:ext>
            </a:extLst>
          </p:cNvPr>
          <p:cNvSpPr>
            <a:spLocks noGrp="1"/>
          </p:cNvSpPr>
          <p:nvPr/>
        </p:nvSpPr>
        <p:spPr>
          <a:xfrm>
            <a:off x="1047750" y="3943350"/>
            <a:ext cx="10096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69E4A9-DE50-4C25-BA1D-1FA794BCED06}"/>
              </a:ext>
            </a:extLst>
          </p:cNvPr>
          <p:cNvSpPr>
            <a:spLocks noGrp="1"/>
          </p:cNvSpPr>
          <p:nvPr/>
        </p:nvSpPr>
        <p:spPr>
          <a:xfrm>
            <a:off x="1314450" y="41338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原始 PDF 页面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AA4B3B-C359-4E08-9221-1806BE487C2F}"/>
              </a:ext>
            </a:extLst>
          </p:cNvPr>
          <p:cNvSpPr>
            <a:spLocks noGrp="1"/>
          </p:cNvSpPr>
          <p:nvPr/>
        </p:nvSpPr>
        <p:spPr>
          <a:xfrm>
            <a:off x="1314450" y="453390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教师端控制页码，学生端不再自由滚动，避免视角错位。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83D2E26-5264-4524-9B27-7A397D61E395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14350"/>
          </a:xfrm>
          <a:prstGeom prst="roundRect">
            <a:avLst>
              <a:gd name="adj" fmla="val 14815"/>
            </a:avLst>
          </a:prstGeom>
          <a:solidFill>
            <a:srgbClr val="E8F8F4"/>
          </a:solidFill>
          <a:ln w="9525">
            <a:solidFill>
              <a:srgbClr val="B8E7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35FA05-E2A3-4DCB-B21F-8857DAC762F3}"/>
              </a:ext>
            </a:extLst>
          </p:cNvPr>
          <p:cNvSpPr>
            <a:spLocks noGrp="1"/>
          </p:cNvSpPr>
          <p:nvPr/>
        </p:nvSpPr>
        <p:spPr>
          <a:xfrm>
            <a:off x="990600" y="5876925"/>
            <a:ext cx="101917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学生反馈绑定当前课件页，而不是脱离上下文的孤立问卷。</a:t>
            </a:r>
          </a:p>
        </p:txBody>
      </p:sp>
    </p:spTree>
    <p:extLst>
      <p:ext uri="{BB962C8B-B14F-4D97-AF65-F5344CB8AC3E}">
        <p14:creationId xmlns:p14="http://schemas.microsoft.com/office/powerpoint/2010/main" val="107909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E87AC08E-C452-4E06-B13C-62CD3A1386A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05 · 核心创新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2F875F-BBFF-4FE6-A80E-17360F312349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把反馈尺度细化到课件页，并保持与讲解进度同步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7F465C-E54A-4911-9D95-58DC21F80B31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2D7659E-378B-44AC-B8DC-2C4282CB6A6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C843647-5A33-4642-BA76-93DBBAAD0C47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667250" cy="1257300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843AC2-7CB0-4E02-B66B-E68B3E3309D1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95250" cy="1257300"/>
          </a:xfrm>
          <a:prstGeom prst="rect">
            <a:avLst/>
          </a:prstGeom>
          <a:solidFill>
            <a:srgbClr val="0EA5A8"/>
          </a:solidFill>
          <a:ln w="952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56BBBD-126A-40AE-93C9-86F249834538}"/>
              </a:ext>
            </a:extLst>
          </p:cNvPr>
          <p:cNvSpPr>
            <a:spLocks noGrp="1"/>
          </p:cNvSpPr>
          <p:nvPr/>
        </p:nvSpPr>
        <p:spPr>
          <a:xfrm>
            <a:off x="1200150" y="20383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页级定位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951D02-6F78-4B9E-9035-C7DF4F97348C}"/>
              </a:ext>
            </a:extLst>
          </p:cNvPr>
          <p:cNvSpPr>
            <a:spLocks noGrp="1"/>
          </p:cNvSpPr>
          <p:nvPr/>
        </p:nvSpPr>
        <p:spPr>
          <a:xfrm>
            <a:off x="1200150" y="24384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学生反馈自动绑定当前课件页，教师知道问题发生在哪里。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C891761-36F5-4B74-A618-9BBDD76FD333}"/>
              </a:ext>
            </a:extLst>
          </p:cNvPr>
          <p:cNvSpPr>
            <a:spLocks noGrp="1"/>
          </p:cNvSpPr>
          <p:nvPr/>
        </p:nvSpPr>
        <p:spPr>
          <a:xfrm>
            <a:off x="6115050" y="1809750"/>
            <a:ext cx="4667250" cy="1257300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AF5840-E883-4742-9E08-DB11EAF7B869}"/>
              </a:ext>
            </a:extLst>
          </p:cNvPr>
          <p:cNvSpPr>
            <a:spLocks noGrp="1"/>
          </p:cNvSpPr>
          <p:nvPr/>
        </p:nvSpPr>
        <p:spPr>
          <a:xfrm>
            <a:off x="6115050" y="1809750"/>
            <a:ext cx="95250" cy="1257300"/>
          </a:xfrm>
          <a:prstGeom prst="rect">
            <a:avLst/>
          </a:prstGeom>
          <a:solidFill>
            <a:srgbClr val="1769AA"/>
          </a:solidFill>
          <a:ln w="9525">
            <a:solidFill>
              <a:srgbClr val="1769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B02B16-61B7-4EFE-A178-A06B0D507C1B}"/>
              </a:ext>
            </a:extLst>
          </p:cNvPr>
          <p:cNvSpPr>
            <a:spLocks noGrp="1"/>
          </p:cNvSpPr>
          <p:nvPr/>
        </p:nvSpPr>
        <p:spPr>
          <a:xfrm>
            <a:off x="6438900" y="20383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共享页码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BA32B5-F989-45B3-8202-A82154112697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教师端页码是唯一控制源，学生端跟随显示，减少视角错位。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B05CA8D-12C7-4EC9-9CC4-A2317ACC6A8C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4667250" cy="1257300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6C5572-A700-4741-88B2-C26F67FEB6AA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95250" cy="1257300"/>
          </a:xfrm>
          <a:prstGeom prst="rect">
            <a:avLst/>
          </a:prstGeom>
          <a:solidFill>
            <a:srgbClr val="E58A2B"/>
          </a:solidFill>
          <a:ln w="9525">
            <a:solidFill>
              <a:srgbClr val="E58A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650E13-1862-4B96-8151-FD6824D7550A}"/>
              </a:ext>
            </a:extLst>
          </p:cNvPr>
          <p:cNvSpPr>
            <a:spLocks noGrp="1"/>
          </p:cNvSpPr>
          <p:nvPr/>
        </p:nvSpPr>
        <p:spPr>
          <a:xfrm>
            <a:off x="1200150" y="37528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结构化上下文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24F05C-C067-4F88-A202-508212648C3F}"/>
              </a:ext>
            </a:extLst>
          </p:cNvPr>
          <p:cNvSpPr>
            <a:spLocks noGrp="1"/>
          </p:cNvSpPr>
          <p:nvPr/>
        </p:nvSpPr>
        <p:spPr>
          <a:xfrm>
            <a:off x="1200150" y="41529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课件被拆成文档、页面、文本块和关键词，为后续诊断提供上下文。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D616242-B3AC-4E1E-A712-D206E80B6F21}"/>
              </a:ext>
            </a:extLst>
          </p:cNvPr>
          <p:cNvSpPr>
            <a:spLocks noGrp="1"/>
          </p:cNvSpPr>
          <p:nvPr/>
        </p:nvSpPr>
        <p:spPr>
          <a:xfrm>
            <a:off x="6115050" y="3524250"/>
            <a:ext cx="4667250" cy="1257300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A59E8D-F913-4EC3-B923-B82E7353FC48}"/>
              </a:ext>
            </a:extLst>
          </p:cNvPr>
          <p:cNvSpPr>
            <a:spLocks noGrp="1"/>
          </p:cNvSpPr>
          <p:nvPr/>
        </p:nvSpPr>
        <p:spPr>
          <a:xfrm>
            <a:off x="6115050" y="3524250"/>
            <a:ext cx="95250" cy="12573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B14B05-22A2-4350-867A-58FC3B987CD0}"/>
              </a:ext>
            </a:extLst>
          </p:cNvPr>
          <p:cNvSpPr>
            <a:spLocks noGrp="1"/>
          </p:cNvSpPr>
          <p:nvPr/>
        </p:nvSpPr>
        <p:spPr>
          <a:xfrm>
            <a:off x="6438900" y="37528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教师保留决策权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B02354-8154-445B-9694-66D18EBB9E83}"/>
              </a:ext>
            </a:extLst>
          </p:cNvPr>
          <p:cNvSpPr>
            <a:spLocks noGrp="1"/>
          </p:cNvSpPr>
          <p:nvPr/>
        </p:nvSpPr>
        <p:spPr>
          <a:xfrm>
            <a:off x="6438900" y="41529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AI 只提供可能误区、依据和复测建议，发布前仍需教师核验。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F394941-DD3F-4F4C-B1E2-80ADC34EBCBC}"/>
              </a:ext>
            </a:extLst>
          </p:cNvPr>
          <p:cNvSpPr>
            <a:spLocks noGrp="1"/>
          </p:cNvSpPr>
          <p:nvPr/>
        </p:nvSpPr>
        <p:spPr>
          <a:xfrm>
            <a:off x="876300" y="5448300"/>
            <a:ext cx="9906000" cy="609600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9525">
            <a:solidFill>
              <a:srgbClr val="102A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B17539-BA60-4CE4-8485-AA65755D4AB3}"/>
              </a:ext>
            </a:extLst>
          </p:cNvPr>
          <p:cNvSpPr>
            <a:spLocks noGrp="1"/>
          </p:cNvSpPr>
          <p:nvPr/>
        </p:nvSpPr>
        <p:spPr>
          <a:xfrm>
            <a:off x="1143000" y="5600700"/>
            <a:ext cx="9334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我们做的不是“另一个投票工具”，而是一个可定位的课堂反馈闭环。</a:t>
            </a:r>
          </a:p>
        </p:txBody>
      </p:sp>
    </p:spTree>
    <p:extLst>
      <p:ext uri="{BB962C8B-B14F-4D97-AF65-F5344CB8AC3E}">
        <p14:creationId xmlns:p14="http://schemas.microsoft.com/office/powerpoint/2010/main" val="1762521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90D175BB-A50F-4316-9B86-E6135521B64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06 · 当前进度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464BE8-86C1-4326-A9D0-8DBD8EB29D77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已经跑通课堂原型，但仍有明确边界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6494A3-0455-4DBB-B80D-1D2C2DF15C8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866CE2A-7C5E-4251-B757-D523BC52DBF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B2624C-5427-43BB-A960-84A0F4B9678E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已实现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A6FD41-1461-4DA7-B839-AAA1E09F96A4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5D10C6-3039-42C2-A16D-02F2621BDAA9}"/>
              </a:ext>
            </a:extLst>
          </p:cNvPr>
          <p:cNvSpPr>
            <a:spLocks noGrp="1"/>
          </p:cNvSpPr>
          <p:nvPr/>
        </p:nvSpPr>
        <p:spPr>
          <a:xfrm>
            <a:off x="1295400" y="22098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三端角色与权限隔离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C55A68-1AEA-4E08-A35A-24B41D0FC3C5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FD4120-9440-4188-A253-473C44811888}"/>
              </a:ext>
            </a:extLst>
          </p:cNvPr>
          <p:cNvSpPr>
            <a:spLocks noGrp="1"/>
          </p:cNvSpPr>
          <p:nvPr/>
        </p:nvSpPr>
        <p:spPr>
          <a:xfrm>
            <a:off x="1295400" y="26670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课堂创建、作答与 SSE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76A5A1-3254-4919-8C30-0DB30B3DD293}"/>
              </a:ext>
            </a:extLst>
          </p:cNvPr>
          <p:cNvSpPr>
            <a:spLocks noGrp="1"/>
          </p:cNvSpPr>
          <p:nvPr/>
        </p:nvSpPr>
        <p:spPr>
          <a:xfrm>
            <a:off x="952500" y="31242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1F79A2-9B1C-49F7-B5DD-CEF97038F38A}"/>
              </a:ext>
            </a:extLst>
          </p:cNvPr>
          <p:cNvSpPr>
            <a:spLocks noGrp="1"/>
          </p:cNvSpPr>
          <p:nvPr/>
        </p:nvSpPr>
        <p:spPr>
          <a:xfrm>
            <a:off x="1295400" y="31242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PDF/PPTX 解析与 Neo4j 图谱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971BE0-6F14-49C1-B5E2-61273DB886B7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5C245A-D614-4E08-98C1-F19ED5C91493}"/>
              </a:ext>
            </a:extLst>
          </p:cNvPr>
          <p:cNvSpPr>
            <a:spLocks noGrp="1"/>
          </p:cNvSpPr>
          <p:nvPr/>
        </p:nvSpPr>
        <p:spPr>
          <a:xfrm>
            <a:off x="1295400" y="35814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教师控制页码、学生同步显示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4C6931-17A7-4390-84DA-A05E4759295C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8F9E44-B69E-4FF6-BA26-250EFC073BDB}"/>
              </a:ext>
            </a:extLst>
          </p:cNvPr>
          <p:cNvSpPr>
            <a:spLocks noGrp="1"/>
          </p:cNvSpPr>
          <p:nvPr/>
        </p:nvSpPr>
        <p:spPr>
          <a:xfrm>
            <a:off x="1295400" y="40386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学生页级反馈与教师实时统计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6A2FDB-BEAD-43DE-871D-B00FD8E41B99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B698E2-C4FC-48DE-BB64-B1D3E87FAAA5}"/>
              </a:ext>
            </a:extLst>
          </p:cNvPr>
          <p:cNvSpPr>
            <a:spLocks noGrp="1"/>
          </p:cNvSpPr>
          <p:nvPr/>
        </p:nvSpPr>
        <p:spPr>
          <a:xfrm>
            <a:off x="1295400" y="44958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Agent 诊断接口与基线留痕表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5D46714-B1CF-41E7-A6F7-E36B89D8DE8F}"/>
              </a:ext>
            </a:extLst>
          </p:cNvPr>
          <p:cNvSpPr>
            <a:spLocks noGrp="1"/>
          </p:cNvSpPr>
          <p:nvPr/>
        </p:nvSpPr>
        <p:spPr>
          <a:xfrm>
            <a:off x="6477000" y="17335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待补齐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017A87-CEFB-4D38-9AB5-D17613351BC2}"/>
              </a:ext>
            </a:extLst>
          </p:cNvPr>
          <p:cNvSpPr>
            <a:spLocks noGrp="1"/>
          </p:cNvSpPr>
          <p:nvPr/>
        </p:nvSpPr>
        <p:spPr>
          <a:xfrm>
            <a:off x="6515100" y="22098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4B0DAF-3D3F-4DD1-8934-2AF4955D92B9}"/>
              </a:ext>
            </a:extLst>
          </p:cNvPr>
          <p:cNvSpPr>
            <a:spLocks noGrp="1"/>
          </p:cNvSpPr>
          <p:nvPr/>
        </p:nvSpPr>
        <p:spPr>
          <a:xfrm>
            <a:off x="6858000" y="220980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T1/T2/T3 首次基线原始证据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4D25B2-F147-45C3-8387-154CF8F0A975}"/>
              </a:ext>
            </a:extLst>
          </p:cNvPr>
          <p:cNvSpPr>
            <a:spLocks noGrp="1"/>
          </p:cNvSpPr>
          <p:nvPr/>
        </p:nvSpPr>
        <p:spPr>
          <a:xfrm>
            <a:off x="6515100" y="27051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155B89-D0A8-414D-B394-A6FD606F5ABA}"/>
              </a:ext>
            </a:extLst>
          </p:cNvPr>
          <p:cNvSpPr>
            <a:spLocks noGrp="1"/>
          </p:cNvSpPr>
          <p:nvPr/>
        </p:nvSpPr>
        <p:spPr>
          <a:xfrm>
            <a:off x="6858000" y="270510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至少 5 个真实问题案例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9FD207-6209-4F6C-B291-76608764FAA8}"/>
              </a:ext>
            </a:extLst>
          </p:cNvPr>
          <p:cNvSpPr>
            <a:spLocks noGrp="1"/>
          </p:cNvSpPr>
          <p:nvPr/>
        </p:nvSpPr>
        <p:spPr>
          <a:xfrm>
            <a:off x="6515100" y="32004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D8B1E2-F4DA-49B1-AD06-EC475D3C39BB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统一清理前端历史乱码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9C5935-5513-4E24-AD7D-12F9BC166A8A}"/>
              </a:ext>
            </a:extLst>
          </p:cNvPr>
          <p:cNvSpPr>
            <a:spLocks noGrp="1"/>
          </p:cNvSpPr>
          <p:nvPr/>
        </p:nvSpPr>
        <p:spPr>
          <a:xfrm>
            <a:off x="6515100" y="36957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44D99C5-1DC4-4827-837A-E1F161CEBD7F}"/>
              </a:ext>
            </a:extLst>
          </p:cNvPr>
          <p:cNvSpPr>
            <a:spLocks noGrp="1"/>
          </p:cNvSpPr>
          <p:nvPr/>
        </p:nvSpPr>
        <p:spPr>
          <a:xfrm>
            <a:off x="6858000" y="369570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管理员原生图谱可视化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D411875-2E4F-40DC-A391-839AD86E0DE6}"/>
              </a:ext>
            </a:extLst>
          </p:cNvPr>
          <p:cNvSpPr>
            <a:spLocks noGrp="1"/>
          </p:cNvSpPr>
          <p:nvPr/>
        </p:nvSpPr>
        <p:spPr>
          <a:xfrm>
            <a:off x="6515100" y="41910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1ACF1E-9D07-4BAD-AFCC-09EEC25806B0}"/>
              </a:ext>
            </a:extLst>
          </p:cNvPr>
          <p:cNvSpPr>
            <a:spLocks noGrp="1"/>
          </p:cNvSpPr>
          <p:nvPr/>
        </p:nvSpPr>
        <p:spPr>
          <a:xfrm>
            <a:off x="6858000" y="419100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PPTX 原始页渲染与 OCR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52706F9-0317-4A55-B5FF-9F39AE5AECDF}"/>
              </a:ext>
            </a:extLst>
          </p:cNvPr>
          <p:cNvSpPr>
            <a:spLocks noGrp="1"/>
          </p:cNvSpPr>
          <p:nvPr/>
        </p:nvSpPr>
        <p:spPr>
          <a:xfrm>
            <a:off x="914400" y="5391150"/>
            <a:ext cx="100965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7FC56F-B7B1-4CB0-A549-431F60ED5BED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诚信边界：当前演示数据不是教学效果证据，Agent 输出仍需人工核验。</a:t>
            </a:r>
          </a:p>
        </p:txBody>
      </p:sp>
    </p:spTree>
    <p:extLst>
      <p:ext uri="{BB962C8B-B14F-4D97-AF65-F5344CB8AC3E}">
        <p14:creationId xmlns:p14="http://schemas.microsoft.com/office/powerpoint/2010/main" val="477581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7CCE9CF-B768-426C-BB4F-5DB25B8A973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07 · 下一步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97E25C-A2EC-4036-89A5-CF88B5FD7A7C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下一阶段先补证据，再做智能化增强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96E4F9-3534-44BE-9A04-25FBFF224B3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982DAC1-5D3F-43D8-B9F2-FF6014094FA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ln w="9525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AA00C2E-313D-4FC8-81F3-3F03F0805A91}"/>
              </a:ext>
            </a:extLst>
          </p:cNvPr>
          <p:cNvSpPr>
            <a:spLocks noGrp="1"/>
          </p:cNvSpPr>
          <p:nvPr/>
        </p:nvSpPr>
        <p:spPr>
          <a:xfrm>
            <a:off x="952500" y="1676400"/>
            <a:ext cx="685800" cy="571500"/>
          </a:xfrm>
          <a:prstGeom prst="roundRect">
            <a:avLst>
              <a:gd name="adj" fmla="val 13333"/>
            </a:avLst>
          </a:prstGeom>
          <a:solidFill>
            <a:srgbClr val="1769AA"/>
          </a:solidFill>
          <a:ln w="9525">
            <a:solidFill>
              <a:srgbClr val="1769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BAD7EB-4B64-4E98-B474-B5CC3D39FF37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261482-CEBC-4C5B-84AF-5830AD65369C}"/>
              </a:ext>
            </a:extLst>
          </p:cNvPr>
          <p:cNvSpPr>
            <a:spLocks noGrp="1"/>
          </p:cNvSpPr>
          <p:nvPr/>
        </p:nvSpPr>
        <p:spPr>
          <a:xfrm>
            <a:off x="2000250" y="16954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冻结并运行 V1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41778C-2D59-4F3B-A9A1-A15D2A4147FA}"/>
              </a:ext>
            </a:extLst>
          </p:cNvPr>
          <p:cNvSpPr>
            <a:spLocks noGrp="1"/>
          </p:cNvSpPr>
          <p:nvPr/>
        </p:nvSpPr>
        <p:spPr>
          <a:xfrm>
            <a:off x="2000250" y="2038350"/>
            <a:ext cx="7810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保留版本、模型、Prompt、知识库、工具、环境和失败记录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BD89545A-336F-48F6-954B-7C1029809E1D}"/>
              </a:ext>
            </a:extLst>
          </p:cNvPr>
          <p:cNvSpPr>
            <a:spLocks noGrp="1"/>
          </p:cNvSpPr>
          <p:nvPr/>
        </p:nvSpPr>
        <p:spPr>
          <a:xfrm>
            <a:off x="1285875" y="2266950"/>
            <a:ext cx="0" cy="400050"/>
          </a:xfrm>
          <a:prstGeom prst="line">
            <a:avLst/>
          </a:prstGeom>
          <a:ln w="19050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4C9A2E3-6C86-4CA0-AE6E-4A9E0041DC76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685800" cy="571500"/>
          </a:xfrm>
          <a:prstGeom prst="roundRect">
            <a:avLst>
              <a:gd name="adj" fmla="val 13333"/>
            </a:avLst>
          </a:prstGeom>
          <a:solidFill>
            <a:srgbClr val="0EA5A8"/>
          </a:solidFill>
          <a:ln w="9525">
            <a:solidFill>
              <a:srgbClr val="0EA5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3553A3-95CF-4006-A908-ABEA4912C044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A8FB9E-FE01-4E7B-B8A1-1DE213E9112F}"/>
              </a:ext>
            </a:extLst>
          </p:cNvPr>
          <p:cNvSpPr>
            <a:spLocks noGrp="1"/>
          </p:cNvSpPr>
          <p:nvPr/>
        </p:nvSpPr>
        <p:spPr>
          <a:xfrm>
            <a:off x="2000250" y="26860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完成 T1/T2/T3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1E1CFB-591C-418F-BE1B-5601A4AC72D9}"/>
              </a:ext>
            </a:extLst>
          </p:cNvPr>
          <p:cNvSpPr>
            <a:spLocks noGrp="1"/>
          </p:cNvSpPr>
          <p:nvPr/>
        </p:nvSpPr>
        <p:spPr>
          <a:xfrm>
            <a:off x="2000250" y="3028950"/>
            <a:ext cx="7810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分别完成理论学习、项目指导、项目评审首次基线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3A25C502-4F9E-4726-B496-E599982F9F11}"/>
              </a:ext>
            </a:extLst>
          </p:cNvPr>
          <p:cNvSpPr>
            <a:spLocks noGrp="1"/>
          </p:cNvSpPr>
          <p:nvPr/>
        </p:nvSpPr>
        <p:spPr>
          <a:xfrm>
            <a:off x="1285875" y="3257550"/>
            <a:ext cx="0" cy="400050"/>
          </a:xfrm>
          <a:prstGeom prst="line">
            <a:avLst/>
          </a:prstGeom>
          <a:ln w="19050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DA502A6-DC34-4BB3-A748-4DF411E2877F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685800" cy="571500"/>
          </a:xfrm>
          <a:prstGeom prst="roundRect">
            <a:avLst>
              <a:gd name="adj" fmla="val 13333"/>
            </a:avLst>
          </a:prstGeom>
          <a:solidFill>
            <a:srgbClr val="E58A2B"/>
          </a:solidFill>
          <a:ln w="9525">
            <a:solidFill>
              <a:srgbClr val="E58A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3A9B91-2AA3-4E3B-ACE9-20BF6D5C45BB}"/>
              </a:ext>
            </a:extLst>
          </p:cNvPr>
          <p:cNvSpPr>
            <a:spLocks noGrp="1"/>
          </p:cNvSpPr>
          <p:nvPr/>
        </p:nvSpPr>
        <p:spPr>
          <a:xfrm>
            <a:off x="952500" y="377190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E8753D-3059-4537-9597-BCCEA712C4BE}"/>
              </a:ext>
            </a:extLst>
          </p:cNvPr>
          <p:cNvSpPr>
            <a:spLocks noGrp="1"/>
          </p:cNvSpPr>
          <p:nvPr/>
        </p:nvSpPr>
        <p:spPr>
          <a:xfrm>
            <a:off x="2000250" y="36766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整理问题案例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A8A729-4BF7-4BFD-96AE-D544C94349F7}"/>
              </a:ext>
            </a:extLst>
          </p:cNvPr>
          <p:cNvSpPr>
            <a:spLocks noGrp="1"/>
          </p:cNvSpPr>
          <p:nvPr/>
        </p:nvSpPr>
        <p:spPr>
          <a:xfrm>
            <a:off x="2000250" y="4019550"/>
            <a:ext cx="7810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从真实运行中形成至少 5 个可复现案例，覆盖至少 2 个流程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D743CE66-A4D3-4C3A-AD6F-E1543E1A44D9}"/>
              </a:ext>
            </a:extLst>
          </p:cNvPr>
          <p:cNvSpPr>
            <a:spLocks noGrp="1"/>
          </p:cNvSpPr>
          <p:nvPr/>
        </p:nvSpPr>
        <p:spPr>
          <a:xfrm>
            <a:off x="1285875" y="4248150"/>
            <a:ext cx="0" cy="400050"/>
          </a:xfrm>
          <a:prstGeom prst="line">
            <a:avLst/>
          </a:prstGeom>
          <a:ln w="19050">
            <a:solidFill>
              <a:srgbClr val="D7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70C4811-C9C5-4B93-B206-929EA0AD6B49}"/>
              </a:ext>
            </a:extLst>
          </p:cNvPr>
          <p:cNvSpPr>
            <a:spLocks noGrp="1"/>
          </p:cNvSpPr>
          <p:nvPr/>
        </p:nvSpPr>
        <p:spPr>
          <a:xfrm>
            <a:off x="952500" y="4648200"/>
            <a:ext cx="685800" cy="57150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DD6B4E-3E60-4373-B099-34305547AAC0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728AF6-F4E7-4A5C-912C-3FB5A23C17A1}"/>
              </a:ext>
            </a:extLst>
          </p:cNvPr>
          <p:cNvSpPr>
            <a:spLocks noGrp="1"/>
          </p:cNvSpPr>
          <p:nvPr/>
        </p:nvSpPr>
        <p:spPr>
          <a:xfrm>
            <a:off x="2000250" y="46672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再进入 V2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E7328A6-CD66-4A3C-AFC4-CA4C23E2EF89}"/>
              </a:ext>
            </a:extLst>
          </p:cNvPr>
          <p:cNvSpPr>
            <a:spLocks noGrp="1"/>
          </p:cNvSpPr>
          <p:nvPr/>
        </p:nvSpPr>
        <p:spPr>
          <a:xfrm>
            <a:off x="2000250" y="5010150"/>
            <a:ext cx="7810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围绕真实问题修复 Agent 路由、输出格式和证据标注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FF30C1C-BC53-4CA0-93E8-6E2748C6F55E}"/>
              </a:ext>
            </a:extLst>
          </p:cNvPr>
          <p:cNvSpPr>
            <a:spLocks noGrp="1"/>
          </p:cNvSpPr>
          <p:nvPr/>
        </p:nvSpPr>
        <p:spPr>
          <a:xfrm>
            <a:off x="952500" y="5734050"/>
            <a:ext cx="10096500" cy="514350"/>
          </a:xfrm>
          <a:prstGeom prst="roundRect">
            <a:avLst>
              <a:gd name="adj" fmla="val 14815"/>
            </a:avLst>
          </a:prstGeom>
          <a:solidFill>
            <a:srgbClr val="102A43"/>
          </a:solidFill>
          <a:ln w="9525">
            <a:solidFill>
              <a:srgbClr val="102A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CE57053-4CDF-4729-A403-243E1E1A1D74}"/>
              </a:ext>
            </a:extLst>
          </p:cNvPr>
          <p:cNvSpPr>
            <a:spLocks noGrp="1"/>
          </p:cNvSpPr>
          <p:nvPr/>
        </p:nvSpPr>
        <p:spPr>
          <a:xfrm>
            <a:off x="1200150" y="5867400"/>
            <a:ext cx="96012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阶段目标：用可追溯证据证明 ClassLoop 的课堂反馈机制，再评估 AI 是否真正提升教师判断。</a:t>
            </a:r>
          </a:p>
        </p:txBody>
      </p:sp>
    </p:spTree>
    <p:extLst>
      <p:ext uri="{BB962C8B-B14F-4D97-AF65-F5344CB8AC3E}">
        <p14:creationId xmlns:p14="http://schemas.microsoft.com/office/powerpoint/2010/main" val="17882281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DocSecurity>0</DocSecurity>
  <PresentationFormat>宽屏</PresentationFormat>
  <Paragraphs>141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wuyutong20200307@126.com</cp:lastModifiedBy>
  <cp:revision>1</cp:revision>
  <dcterms:created xsi:type="dcterms:W3CDTF">2026-09-08T00:39:08Z</dcterms:created>
  <dcterms:modified xsi:type="dcterms:W3CDTF">2026-09-08T00:44:35Z</dcterms:modified>
</cp:coreProperties>
</file>