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01ab7c18a2450b" /><Relationship Type="http://schemas.openxmlformats.org/officeDocument/2006/relationships/extended-properties" Target="/docProps/app.xml" Id="R834f6e6993be4f42" /><Relationship Type="http://schemas.openxmlformats.org/officeDocument/2006/relationships/officeDocument" Target="/ppt/presentation.xml" Id="R88bda088273142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965f6bada14049"/>
  </p:sldMasterIdLst>
  <p:notesMasterIdLst>
    <p:notesMasterId xmlns:r="http://schemas.openxmlformats.org/officeDocument/2006/relationships" r:id="R14033cacc5484b75"/>
  </p:notesMasterIdLst>
  <p:sldIdLst>
    <p:sldId xmlns:r="http://schemas.openxmlformats.org/officeDocument/2006/relationships" id="256" r:id="R44c0b313975f4001"/>
    <p:sldId xmlns:r="http://schemas.openxmlformats.org/officeDocument/2006/relationships" id="257" r:id="R5eecc3637d7240de"/>
    <p:sldId xmlns:r="http://schemas.openxmlformats.org/officeDocument/2006/relationships" id="258" r:id="R66686be4b9234c37"/>
    <p:sldId xmlns:r="http://schemas.openxmlformats.org/officeDocument/2006/relationships" id="259" r:id="Rf864167bf99a460d"/>
    <p:sldId xmlns:r="http://schemas.openxmlformats.org/officeDocument/2006/relationships" id="260" r:id="R944ac29d957e410a"/>
    <p:sldId xmlns:r="http://schemas.openxmlformats.org/officeDocument/2006/relationships" id="261" r:id="R0670cb0f2e5d40ed"/>
    <p:sldId xmlns:r="http://schemas.openxmlformats.org/officeDocument/2006/relationships" id="262" r:id="R6f0fdc74808740aa"/>
    <p:sldId xmlns:r="http://schemas.openxmlformats.org/officeDocument/2006/relationships" id="263" r:id="R99d27ec6252e42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281056941b46f3" /><Relationship Type="http://schemas.openxmlformats.org/officeDocument/2006/relationships/slideMaster" Target="/ppt/slideMasters/slideMaster1.xml" Id="R67965f6bada14049" /><Relationship Type="http://schemas.openxmlformats.org/officeDocument/2006/relationships/notesMaster" Target="/ppt/notesMasters/notesMaster1.xml" Id="R14033cacc5484b75" /><Relationship Type="http://schemas.openxmlformats.org/officeDocument/2006/relationships/presProps" Target="/ppt/presProps.xml" Id="Rc1912050d1a6428a" /><Relationship Type="http://schemas.openxmlformats.org/officeDocument/2006/relationships/tableStyles" Target="/ppt/tableStyles.xml" Id="Rfc5cb340d20f447c" /><Relationship Type="http://schemas.openxmlformats.org/officeDocument/2006/relationships/slide" Target="/ppt/slides/slide1.xml" Id="R44c0b313975f4001" /><Relationship Type="http://schemas.openxmlformats.org/officeDocument/2006/relationships/slide" Target="/ppt/slides/slide2.xml" Id="R5eecc3637d7240de" /><Relationship Type="http://schemas.openxmlformats.org/officeDocument/2006/relationships/slide" Target="/ppt/slides/slide3.xml" Id="R66686be4b9234c37" /><Relationship Type="http://schemas.openxmlformats.org/officeDocument/2006/relationships/slide" Target="/ppt/slides/slide4.xml" Id="Rf864167bf99a460d" /><Relationship Type="http://schemas.openxmlformats.org/officeDocument/2006/relationships/slide" Target="/ppt/slides/slide5.xml" Id="R944ac29d957e410a" /><Relationship Type="http://schemas.openxmlformats.org/officeDocument/2006/relationships/slide" Target="/ppt/slides/slide6.xml" Id="R0670cb0f2e5d40ed" /><Relationship Type="http://schemas.openxmlformats.org/officeDocument/2006/relationships/slide" Target="/ppt/slides/slide7.xml" Id="R6f0fdc74808740aa" /><Relationship Type="http://schemas.openxmlformats.org/officeDocument/2006/relationships/slide" Target="/ppt/slides/slide8.xml" Id="R99d27ec6252e42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c04de3fcc94f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cc4fb5a68b4a9f" /><Relationship Type="http://schemas.openxmlformats.org/officeDocument/2006/relationships/notesMaster" Target="/ppt/notesMasters/notesMaster1.xml" Id="R1363dafbf2e740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57b2ee7bda4d5d" /><Relationship Type="http://schemas.openxmlformats.org/officeDocument/2006/relationships/notesMaster" Target="/ppt/notesMasters/notesMaster1.xml" Id="R974823289c8a49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4e56fffc104c89" /><Relationship Type="http://schemas.openxmlformats.org/officeDocument/2006/relationships/notesMaster" Target="/ppt/notesMasters/notesMaster1.xml" Id="Rf1fb56d1b8b64f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9dfc1e9a6d433d" /><Relationship Type="http://schemas.openxmlformats.org/officeDocument/2006/relationships/notesMaster" Target="/ppt/notesMasters/notesMaster1.xml" Id="R3635cf8c621f4b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1e2a43b08443ef" /><Relationship Type="http://schemas.openxmlformats.org/officeDocument/2006/relationships/notesMaster" Target="/ppt/notesMasters/notesMaster1.xml" Id="R8e1b7eb4696643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0c35a60af34f24" /><Relationship Type="http://schemas.openxmlformats.org/officeDocument/2006/relationships/notesMaster" Target="/ppt/notesMasters/notesMaster1.xml" Id="R5e3fc833007944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df1abc6e654600" /><Relationship Type="http://schemas.openxmlformats.org/officeDocument/2006/relationships/notesMaster" Target="/ppt/notesMasters/notesMaster1.xml" Id="R92a0acd5208d42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7f56b55e994c7f" /><Relationship Type="http://schemas.openxmlformats.org/officeDocument/2006/relationships/notesMaster" Target="/ppt/notesMasters/notesMaster1.xml" Id="R87169b9134864f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来源：ClassLoop/README.md；ClassLoop/项目交接与进度说明_2026-09-03.md。封面只概括当前产品定位，不宣称已验证教学效果。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事实依据：ClassLoop 当前三端功能和页级反馈代码。项目痛点与价值属于待验证假设，汇报时不应描述为大规模调研结论。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来源：ClassLoop/frontend/src/components/LearningMaterialPanel.tsx；StudentPageFeedback.tsx；ParticipantView.tsx。页面展示的是已实现的课堂交互链路。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来源：ClassLoop/frontend/src/components/LearningMaterialPanel.tsx；PresentationPage.tsx；StudentPageFeedback.tsx。界面描述基于当前实现，不代表 PPTX 原页渲染已完整支持。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来源：ClassLoop/backend/app/main.py；database.py；document_graph.py；backend/README.md。VentureAgent 为辅助工具，不是最终验收主体。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创新表述基于当前功能机制，属于方案差异判断，不宣称对所有竞品的全面优越性。依据：ClassLoop README 与当前前后端实现。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当前进度依据：ClassLoop/README.md；ClassLoop/项目交接与进度说明_2026-09-03.md；ClassLoop/evidence/v1_freeze/S01_freeze_gate.md。已实现与待补齐严格区分。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下一步安排依据：第一阶段提交说明.pdf 的 G1-G5 门槛，以及 ClassLoop/evidence/v1_freeze/S01_freeze_gate.md。此页不承诺未完成的实验结果。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dc792c6f9e42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2c218eb7e34d30" /><Relationship Type="http://schemas.openxmlformats.org/officeDocument/2006/relationships/slideLayout" Target="/ppt/slideLayouts/slideLayout1.xml" Id="R10676f6262fb40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676f6262fb40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5312479a54873" /><Relationship Type="http://schemas.openxmlformats.org/officeDocument/2006/relationships/notesSlide" Target="/ppt/notesSlides/notesSlide1.xml" Id="R05517d72a86140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e688028f747d2" /><Relationship Type="http://schemas.openxmlformats.org/officeDocument/2006/relationships/notesSlide" Target="/ppt/notesSlides/notesSlide2.xml" Id="Rbbee9e43baa24b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83eb470044e88" /><Relationship Type="http://schemas.openxmlformats.org/officeDocument/2006/relationships/notesSlide" Target="/ppt/notesSlides/notesSlide3.xml" Id="R31906986f12f4f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7017ec4e24eb8" /><Relationship Type="http://schemas.openxmlformats.org/officeDocument/2006/relationships/notesSlide" Target="/ppt/notesSlides/notesSlide4.xml" Id="R198c900328144a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7fca8f4824a9f" /><Relationship Type="http://schemas.openxmlformats.org/officeDocument/2006/relationships/notesSlide" Target="/ppt/notesSlides/notesSlide5.xml" Id="R0ae9f34f52814d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e5d74195e4aad" /><Relationship Type="http://schemas.openxmlformats.org/officeDocument/2006/relationships/notesSlide" Target="/ppt/notesSlides/notesSlide6.xml" Id="R32378178679d4f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2dbe6bc194dcc" /><Relationship Type="http://schemas.openxmlformats.org/officeDocument/2006/relationships/notesSlide" Target="/ppt/notesSlides/notesSlide7.xml" Id="Rde3b4b611e6c48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8d5496f254bcc" /><Relationship Type="http://schemas.openxmlformats.org/officeDocument/2006/relationships/notesSlide" Target="/ppt/notesSlides/notesSlide8.xml" Id="Re4b9433c21b24f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C8A407-2872-4E16-8C43-0088E003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69FD6-B39C-4A64-910D-3F432CD1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333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9525">
            <a:solidFill>
              <a:srgbClr val="0EA5A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9FC06-E406-4F51-A91B-F8BC917E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CLASSLOOP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05E99-8930-4143-8DC6-720E8F6D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621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认知反馈课堂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EAC3A-23E0-4954-A09B-BD070BCA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14625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把“教师讲到哪一页”与“学生哪里没听懂”连接起来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03A01-92D2-4E0A-822C-406E6F3D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816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大数据技术课程实践 · 项目简介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C00BA-70C8-4518-B5B7-0EC9AA91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1143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6CA02-A1F5-412E-B454-8031A686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教师</a:t>
            </a:r>
          </a:p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讲解页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A4D61-7647-4843-8624-836E3FF2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1143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9525">
            <a:solidFill>
              <a:srgbClr val="0EA5A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E670B-2E30-4DD1-9815-89E6AADD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学生</a:t>
            </a:r>
          </a:p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看同页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B3A5D-572F-4A2C-95AB-3EE9ABCD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1143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58A2B"/>
          </a:solidFill>
          <a:ln xmlns:a="http://schemas.openxmlformats.org/drawingml/2006/main" w="9525">
            <a:solidFill>
              <a:srgbClr val="E58A2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56E6E-947E-4B45-B13E-29F26BAE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053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即时</a:t>
            </a:r>
          </a:p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反馈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5C500-2C97-4DBA-894A-6980853D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1143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74A30-820D-4BF0-BD69-9CEA9DED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718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教师</a:t>
            </a:r>
          </a:p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调整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43E3B-F588-4A1C-B913-6A96F422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285750" cy="5715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EA5A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AADFC-D415-457F-9C70-9CD6F457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857250" cy="5905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EA5A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BB41E-D48E-47CE-8775-21B61A24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00450"/>
            <a:ext cx="857250" cy="5905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EA5A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D14859-6D23-47B8-8964-486A9034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0"/>
            <a:ext cx="857250" cy="5715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EA5A8"/>
            </a:solidFill>
          </a:ln>
        </p:spPr>
      </p:sp>
    </p:spTree>
    <p:extLst>
      <p:ext uri="{BB962C8B-B14F-4D97-AF65-F5344CB8AC3E}">
        <p14:creationId xmlns:p14="http://schemas.microsoft.com/office/powerpoint/2010/main" val="8037967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B03471-8908-4D80-8F85-51F91BBB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01 · 项目定位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27D56-9A53-454D-9E58-C7B6FF1E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课堂里真正缺的不是题目，而是反馈位置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3E31F-7718-479E-BB49-7251C88C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25D27-2C36-4101-A887-DBC361C5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D2FAB-27CB-4B0F-B3FE-DBE16E49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传统课堂反馈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59D89-5EC0-4E91-82F4-E4EB8A5A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有人没听懂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7AA6F-71CD-44C1-9618-43A2B4F2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381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但教师不一定知道：</a:t>
            </a:r>
          </a:p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是哪一页、哪一段、哪一个知识点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A98CF-91DA-47C1-87D9-78F929D9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5334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2811D-D193-46DB-B756-40862DFC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764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课堂反馈的定位尺度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6760C-165C-4426-8F81-01E5EF14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B7083"/>
          </a:solidFill>
          <a:ln xmlns:a="http://schemas.openxmlformats.org/drawingml/2006/main" w="9525">
            <a:solidFill>
              <a:srgbClr val="5B70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9CC3A-74B5-4B5F-BFA8-1A52077D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908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课堂整体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CAE69-F544-4A4C-85CB-9A608D2F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908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知道有人不理解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C39EF-37E5-42BB-81B4-E73CEE59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48050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B3C0F-C6E0-423F-B51B-90C4B8B7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147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题目层面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21BFBF-796C-4A48-81B4-F1338864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147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知道哪道题答错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C5451-B9E2-4D01-8B9B-86AD6A1D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9525">
            <a:solidFill>
              <a:srgbClr val="0EA5A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50ED55-5632-4326-9716-F0548C0D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386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课件页级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041768-5C58-4B0D-8B95-47085FE0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38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知道当前讲到哪一页卡住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C8BFBD-4983-41AC-8D6F-BF55892C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项目边界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266FF3-5EAE-425F-9EE9-DBD2A7BA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340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面向同步理论课堂的教师与当前课堂学生，不替代教师，也不把演示数据当作教学效果证据。</a:t>
            </a:r>
          </a:p>
        </p:txBody>
      </p:sp>
    </p:spTree>
    <p:extLst>
      <p:ext uri="{BB962C8B-B14F-4D97-AF65-F5344CB8AC3E}">
        <p14:creationId xmlns:p14="http://schemas.microsoft.com/office/powerpoint/2010/main" val="21114168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63FDE3-DAE9-408A-BA26-D2A233BC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02 · 使用场景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E0007-450D-490E-8BFF-963FCD75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一节数据结构课里的实时反馈闭环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753E1-F12C-40F5-8AAC-07F25A55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79961-2072-4F96-9DB7-C2B24702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A515C-4624-478A-BD96-1A841932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266950" cy="247650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24C8D-404F-4B1A-977A-F449181E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8EDE9-CBF6-49CB-96E8-E1F163BE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教师上传课件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51604-DFF1-454F-B34F-2F3999DE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184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PDF/PPTX 进入课堂，系统记录课件页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015C7-5086-4FA6-866B-54DDB818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9908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4E2C1-754C-4B31-81E6-A06FC686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38350"/>
            <a:ext cx="2266950" cy="247650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AC9E9-477D-4852-96A3-2C930CD3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479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3357A-D9DA-44E1-BD77-B66F7DD3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8384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教师控制页码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CE54D5-3A29-4483-8106-E8BD19FF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371850"/>
            <a:ext cx="184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上一页、输入页码、下一页，统一共享状态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E7E37-C845-4582-8143-52CC01A4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908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91FA99-0EA1-4787-95B5-CFE61DEE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2266950" cy="247650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7210E-B39B-4C53-9356-0F9A2D46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79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49C8E-A34A-4CA8-B02D-C50609CD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384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学生跟随反馈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2C7673-0081-4AB3-9972-B67817C4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71850"/>
            <a:ext cx="184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学生看到同一页，匿名点击“这里没听懂”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3C2399-D5BF-4D10-986E-2A3CE3CF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9908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746F5-0EA0-44E0-A49C-3638313A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38350"/>
            <a:ext cx="2266950" cy="247650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8AE4EF-AB87-4C11-978E-9FE4AFFD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2479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32F6A3-5F42-4ECB-8604-83EB98AD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8384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教师即时调整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ABD6BE-A603-4C68-9B9D-0509CFC6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371850"/>
            <a:ext cx="184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当前页上方出现反馈数量，决定重讲或复测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21B39F-AF55-4B64-BAB9-60D0416A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0439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6FA4F0-3CBD-4142-873B-0078E67A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核心任务：让教师在讲解过程中，定位并处理学生的理解障碍。</a:t>
            </a:r>
          </a:p>
        </p:txBody>
      </p:sp>
    </p:spTree>
    <p:extLst>
      <p:ext uri="{BB962C8B-B14F-4D97-AF65-F5344CB8AC3E}">
        <p14:creationId xmlns:p14="http://schemas.microsoft.com/office/powerpoint/2010/main" val="18399878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686AC7-C198-4934-8D8B-EB9C79BE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03 · 产品界面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55D51-2572-4E09-AF28-EFFACAFE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教师控制一页，学生跟随一页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A2528-B38E-47C0-A730-CFB5EF1C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92F07-14C6-48B1-92AB-87164DAE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B5099-0D4F-4E43-A7EC-96693B85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14D5E-240E-456A-8AD6-B0837947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教师端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2CF83-8F0F-41A5-8A47-E896AE03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0096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79117-5A2B-4F13-B47C-D9EF257A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47950"/>
            <a:ext cx="1238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85544-09D4-40A3-8C46-F15D44A3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86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上一页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D6DB9-7E42-4356-9DBE-B6196470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09850"/>
            <a:ext cx="17907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20581-A38C-4BE3-8583-065B4976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9557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12 / 107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7DBF5-B5AC-4AD0-B5F1-81F532EC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47950"/>
            <a:ext cx="1238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6AEA24-48C3-4D3D-838A-7D404F1B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86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下一页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A452F-ED98-49D7-806E-3763091F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861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输入页码可随机访问，页码是课堂共享状态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2CF89-3FF8-4238-B168-139863E1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1009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9E4A9-DE50-4C25-BA1D-1FA794BC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3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原始 PDF 页面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A4B3B-C359-4E08-9221-1806BE48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33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教师端控制页码，学生端不再自由滚动，避免视角错位。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3D2E26-5264-4524-9B27-7A397D61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F8F4"/>
          </a:solidFill>
          <a:ln xmlns:a="http://schemas.openxmlformats.org/drawingml/2006/main" w="9525">
            <a:solidFill>
              <a:srgbClr val="B8E7D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5FA05-E2A3-4DCB-B21F-8857DAC7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76925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学生反馈绑定当前课件页，而不是脱离上下文的孤立问卷。</a:t>
            </a:r>
          </a:p>
        </p:txBody>
      </p:sp>
    </p:spTree>
    <p:extLst>
      <p:ext uri="{BB962C8B-B14F-4D97-AF65-F5344CB8AC3E}">
        <p14:creationId xmlns:p14="http://schemas.microsoft.com/office/powerpoint/2010/main" val="10790928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50AA2F-C55B-4BD9-A0E0-FBD7FE52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04 · 技术架构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1674D-96BA-40A1-A0E0-7923F28A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业务事实、教学结构与实时事件分层保存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E2275-9019-4DFC-AA4F-28116A43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B3701-15A1-4CF3-AB66-9D7844CF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2B27B-4D4C-4FD2-A4E0-38C63688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342BC-BA17-4417-959A-B3048E2D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前端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05DEE-0F93-4372-BB5B-190FB456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781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6054D-1BD2-46F5-B8AA-8E4C4E5A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90700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React + TypeScript + Vite + Tailwind CSS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ABBBD-9FE7-4533-9A91-496C65C2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288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C35F8-AA24-4F5A-B974-63CFE2D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9525">
            <a:solidFill>
              <a:srgbClr val="0EA5A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D2F59-6B4A-4D0C-8D6A-FFDFD053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后端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0734E-BF00-497A-A6A6-193D0D08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781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BF6FD-BDD4-48F1-B466-1B14DB93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71750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Python + FastAPI + Uvicorn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3EB08-0E19-4824-99EA-ED315E5D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099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F67C1D-FFF4-4FB6-9230-3F48AF94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EC210-DE28-484C-8BFA-441E0C3F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业务数据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3637A8-31B0-45BE-BA12-B8045B2C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781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E666F-7A71-4D57-B9F8-AECB7582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52800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SQLite：课堂、回答、反馈、原始课件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FEE330-7BE4-4D15-825B-815317B0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90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9FD81-FD1B-4688-B764-57549984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58A2B"/>
          </a:solidFill>
          <a:ln xmlns:a="http://schemas.openxmlformats.org/drawingml/2006/main" w="9525">
            <a:solidFill>
              <a:srgbClr val="E58A2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83028-8FE5-425E-9A30-5E434F2B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33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结构关系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6D2848-A23E-44DA-A937-8E00634E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38600"/>
            <a:ext cx="781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F523DB-13C9-4C0A-B1BD-E23F3AB8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33850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Neo4j：课件—页面—文本块—关键词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21DE8D-6747-4599-858C-40659A99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72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8619F-C3EE-4348-AD47-81B2CB2E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E8CD1-23FC-480E-85F6-9BB780E7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149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实时通信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EA84BE-8AD2-4A1D-ADCE-0F96E4DB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9650"/>
            <a:ext cx="781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7C2ACF-40D7-4D05-9377-4CB4039E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14900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SSE：页码、广播、反馈事件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A36330-EAAF-4F4C-A098-2A3AA6B3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57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关键设计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912BA6-EC0B-451B-BD36-6E724095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8102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Neo4j 是结构关系层，不承担账号与课堂业务事实；AI 通过 VentureAgent HTTP Adapter 接入。</a:t>
            </a:r>
          </a:p>
        </p:txBody>
      </p:sp>
    </p:spTree>
    <p:extLst>
      <p:ext uri="{BB962C8B-B14F-4D97-AF65-F5344CB8AC3E}">
        <p14:creationId xmlns:p14="http://schemas.microsoft.com/office/powerpoint/2010/main" val="7470543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7AC08E-C452-4E06-B13C-62CD3A13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05 · 核心创新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F875F-BBFF-4FE6-A80E-17360F31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把反馈尺度细化到课件页，并保持与讲解进度同步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F465C-E54A-4911-9D95-58DC21F8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7659E-378B-44AC-B8DC-2C4282CB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43647-5A33-4642-BA76-93DBBAAD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667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43AC2-7CB0-4E02-B66B-E68B3E33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9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9525">
            <a:solidFill>
              <a:srgbClr val="0EA5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6BBBD-126A-40AE-93C9-86F24983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页级定位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51D02-6F78-4B9E-9035-C7DF4F97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384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学生反馈自动绑定当前课件页，教师知道问题发生在哪里。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91761-36F5-4B74-A618-9BBDD76F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4667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F5840-E883-4742-9E08-DB11EAF7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9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02B16-61B7-4EFE-A178-A06B0D50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共享页码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A32B5-F989-45B3-8202-A8215411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教师端页码是唯一控制源，学生端跟随显示，减少视角错位。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5CA8D-12C7-4EC9-9CC4-A2317ACC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667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C5572-A700-4741-88B2-C26F67FE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9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B"/>
          </a:solidFill>
          <a:ln xmlns:a="http://schemas.openxmlformats.org/drawingml/2006/main" w="9525">
            <a:solidFill>
              <a:srgbClr val="E58A2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50E13-1862-4B96-8151-FD6824D7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528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结构化上下文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4F05C-C067-4F88-A202-50821264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529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课件被拆成文档、页面、文本块和关键词，为后续诊断提供上下文。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616242-B3AC-4E1E-A712-D206E80B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24250"/>
            <a:ext cx="4667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A59E8D-F913-4EC3-B923-B82E7353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24250"/>
            <a:ext cx="9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B14B05-22A2-4350-867A-58FC3B98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528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教师保留决策权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B02354-8154-445B-9694-66D18EBB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AI 只提供可能误区、依据和复测建议，发布前仍需教师核验。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394941-DD3F-4F4C-B1E2-80ADC34E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9906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B17539-BA60-4CE4-8485-AA65755D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007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我们做的不是“另一个投票工具”，而是一个可定位的课堂反馈闭环。</a:t>
            </a:r>
          </a:p>
        </p:txBody>
      </p:sp>
    </p:spTree>
    <p:extLst>
      <p:ext uri="{BB962C8B-B14F-4D97-AF65-F5344CB8AC3E}">
        <p14:creationId xmlns:p14="http://schemas.microsoft.com/office/powerpoint/2010/main" val="17625210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D175BB-A50F-4316-9B86-E6135521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06 · 当前进度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64BE8-86C1-4326-A9D0-8DBD8EB2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已经跑通课堂原型，但仍有明确边界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494A3-0455-4DBB-B80D-1D2C2DF1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6CE2A-7C5E-4251-B757-D523BC52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2624C-5427-43BB-A960-84A0F4B9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8A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8A63"/>
                </a:solidFill>
                <a:latin typeface="Arial"/>
                <a:ea typeface="Arial"/>
                <a:cs typeface="Arial"/>
              </a:rPr>
              <a:t>已实现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6FD41-1461-4DA7-B839-AAA1E09F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A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A6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D10C6-3039-42C2-A16D-02F2621B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09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三端角色与权限隔离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55A68-1AEA-4E08-A35A-24B41D0F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A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A6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D4120-9440-4188-A253-473C4481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67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课堂创建、作答与 SSE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6A5A1-3254-4919-8C30-0DB30B3D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A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A6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F79A2-9B1C-49F7-B5DD-CEF97038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24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PDF/PPTX 解析与 Neo4j 图谱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71BE0-6F14-49C1-B5E2-61273DB8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A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A6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C245A-D614-4E08-98C1-F19ED5C9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814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教师控制页码、学生同步显示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C6931-17A7-4390-84DA-A05E4759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A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A6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F9E44-B69E-4FF6-BA26-250EFC07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386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学生页级反馈与教师实时统计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A2FDB-BEAD-43DE-871D-B00FD8E4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A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A6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B698E2-C4FC-48DE-BB64-B1D3E87F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95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Agent 诊断接口与基线留痕表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46714-B1CF-41E7-A6F7-E36B89D8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58A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58A2B"/>
                </a:solidFill>
                <a:latin typeface="Arial"/>
                <a:ea typeface="Arial"/>
                <a:cs typeface="Arial"/>
              </a:rPr>
              <a:t>待补齐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017A87-CEFB-4D38-9AB5-D1761335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58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8A2B"/>
                </a:solidFill>
                <a:latin typeface="Arial"/>
                <a:ea typeface="Arial"/>
                <a:cs typeface="Arial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4B0DAF-3D3F-4DD1-8934-2AF4955D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98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T1/T2/T3 首次基线原始证据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4D25B2-F147-45C3-8387-154CF8F0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051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58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8A2B"/>
                </a:solidFill>
                <a:latin typeface="Arial"/>
                <a:ea typeface="Arial"/>
                <a:cs typeface="Arial"/>
              </a:rPr>
              <a:t>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55B89-D0A8-414D-B394-A6FD606F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051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至少 5 个真实问题案例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9FD207-6209-4F6C-B291-76608764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00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58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8A2B"/>
                </a:solidFill>
                <a:latin typeface="Arial"/>
                <a:ea typeface="Arial"/>
                <a:cs typeface="Arial"/>
              </a:rPr>
              <a:t>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D8B1E2-F4DA-49B1-AD06-EC475D3C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统一清理前端历史乱码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9C5935-5513-4E24-AD7D-12F9BC16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58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8A2B"/>
                </a:solidFill>
                <a:latin typeface="Arial"/>
                <a:ea typeface="Arial"/>
                <a:cs typeface="Arial"/>
              </a:rPr>
              <a:t>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4D99C5-1DC4-4827-837A-E1F161CE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957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管理员原生图谱可视化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411875-2E4F-40DC-A391-839AD86E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58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8A2B"/>
                </a:solidFill>
                <a:latin typeface="Arial"/>
                <a:ea typeface="Arial"/>
                <a:cs typeface="Arial"/>
              </a:rPr>
              <a:t>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1ACF1E-9D07-4BAD-AFCC-09EEC258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PPTX 原始页渲染与 OCR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2706F9-0317-4A55-B5FF-9F39AE5A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10096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7FC56F-B7B1-4CB0-A549-431F60ED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626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诚信边界：当前演示数据不是教学效果证据，Agent 输出仍需人工核验。</a:t>
            </a:r>
          </a:p>
        </p:txBody>
      </p:sp>
    </p:spTree>
    <p:extLst>
      <p:ext uri="{BB962C8B-B14F-4D97-AF65-F5344CB8AC3E}">
        <p14:creationId xmlns:p14="http://schemas.microsoft.com/office/powerpoint/2010/main" val="4775814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CCE9CF-B768-426C-BB4F-5DB25B8A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A5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A5A8"/>
                </a:solidFill>
                <a:latin typeface="Arial"/>
                <a:ea typeface="Arial"/>
                <a:cs typeface="Arial"/>
              </a:rPr>
              <a:t>07 ·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7E25C-A2EC-4036-89A5-CF88B5FD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下一阶段先补证据，再做智能化增强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6E4F9-3534-44BE-9A04-25FBFF22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708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2DAC1-5D3F-43D8-B9F2-FF601409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00C2E-313D-4FC8-81F3-3F03F080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685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AD7EB-4B64-4E98-B474-B5CC3D39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61482-CEBC-4C5B-84AF-5830AD65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69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冻结并运行 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1778C-2D59-4F3B-A9A1-A15D2A41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38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保留版本、模型、Prompt、知识库、工具、环境和失败记录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9545A-336F-48F6-954B-7C102980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66950"/>
            <a:ext cx="0" cy="4000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7E3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9A2E3-6C86-4CA0-AE6E-4A9E0041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685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9525">
            <a:solidFill>
              <a:srgbClr val="0EA5A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553A3-95CF-4006-A908-ABEA4912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8FB9E-FE01-4E7B-B8A1-1DE213E9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完成 T1/T2/T3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E1CFB-591C-418F-BE1B-5601A4AC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289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分别完成理论学习、项目指导、项目评审首次基线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25C502-4F9E-4726-B496-E599982F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57550"/>
            <a:ext cx="0" cy="4000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7E3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502A6-DC34-4BB3-A748-4DF411E2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685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58A2B"/>
          </a:solidFill>
          <a:ln xmlns:a="http://schemas.openxmlformats.org/drawingml/2006/main" w="9525">
            <a:solidFill>
              <a:srgbClr val="E58A2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3A9B91-2AA3-4E3B-ACE9-20BF6D5C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E8753D-3059-4537-9597-BCCEA712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76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整理问题案例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A8A729-4BF7-4BFD-96AE-D544C943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195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从真实运行中形成至少 5 个可复现案例，覆盖至少 2 个流程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3CE66-A4D3-4C3A-AD6F-E1543E1A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48150"/>
            <a:ext cx="0" cy="4000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7E3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0C4811-C9C5-4B93-B206-929EA0AD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685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DD6B4E-3E60-4373-B099-34305547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728AF6-F4E7-4A5C-912C-3FB5A23C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67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再进入 V2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7328A6-CD66-4A3C-AFC4-CA4C23E2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101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围绕真实问题修复 Agent 路由、输出格式和证据标注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F30C1C-BC53-4CA0-93E8-6E2748C6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34050"/>
            <a:ext cx="1009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E57053-4CDF-4729-A403-243E1E1A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67400"/>
            <a:ext cx="960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阶段目标：用可追溯证据证明 ClassLoop 的课堂反馈机制，再评估 AI 是否真正提升教师判断。</a:t>
            </a:r>
          </a:p>
        </p:txBody>
      </p:sp>
    </p:spTree>
    <p:extLst>
      <p:ext uri="{BB962C8B-B14F-4D97-AF65-F5344CB8AC3E}">
        <p14:creationId xmlns:p14="http://schemas.microsoft.com/office/powerpoint/2010/main" val="1788228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2026-09-08T00:39:08.0760000Z</dcterms:created>
  <dcterms:modified xsi:type="dcterms:W3CDTF">2026-09-08T00:39:08.0760000Z</dcterms:modified>
</coreProperties>
</file>